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C28"/>
    <a:srgbClr val="C3121E"/>
    <a:srgbClr val="25A39B"/>
    <a:srgbClr val="454376"/>
    <a:srgbClr val="BAE997"/>
    <a:srgbClr val="1095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6E2E4-223C-47E3-B12C-94263E111ACE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014B6-6856-4E55-8DEB-45887CCB94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92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DD1D-59A2-47C8-93D3-210B04EFFEA0}" type="datetime1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0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A4-A488-450E-9DE1-1AD739328317}" type="datetime1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97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7FA70-0913-41AF-A3EF-BC86C62CA68B}" type="datetime1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68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4DAF-EE79-4D5F-8B07-932B14C0B7D4}" type="datetime1">
              <a:rPr lang="fr-FR" smtClean="0"/>
              <a:t>14/01/2025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42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AB16-9A55-43AF-B808-2E7C1B157703}" type="datetime1">
              <a:rPr lang="fr-FR" smtClean="0"/>
              <a:t>14/01/2025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49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255F-0926-49DF-9777-81AEA25F755C}" type="datetime1">
              <a:rPr lang="fr-FR" smtClean="0"/>
              <a:t>14/01/2025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89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3F49-F88F-4428-9C53-42C9CEE889A9}" type="datetime1">
              <a:rPr lang="fr-FR" smtClean="0"/>
              <a:t>14/01/2025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3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5E0-E647-4023-A669-C6549BFF79DD}" type="datetime1">
              <a:rPr lang="fr-FR" smtClean="0"/>
              <a:t>14/01/2025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52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A7CB-E24E-41FA-BDA1-B60EE1A44A89}" type="datetime1">
              <a:rPr lang="fr-FR" smtClean="0"/>
              <a:t>14/01/2025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58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3B6A-EAE3-4ED9-8EBD-3494D75629E8}" type="datetime1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39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FC00-20AD-4BDE-8914-0CA796AF4BBB}" type="datetime1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7754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A938-3017-4465-BE20-78E2F48ACADC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1911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E18D-1D55-40C0-B0FC-844FC842A838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5866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098E-83BD-4AD9-A1CE-2E7A31644348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2016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7618D-4C19-4163-A023-EE5D4C74506C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3856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53A1-AD58-46A8-AD38-9F6A92FDAA5F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3152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832B-D05D-48C2-ADB0-B5E8DE7235B1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1715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68B6-852A-4A41-B6F3-0A5935272389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0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519C-F41C-4D78-BBDF-E27BCDBDBF59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4816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8811-5498-424E-A9D3-E01265EB8756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30667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20F42-7752-4DAE-8E0F-C723FF1A98A7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6348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567E-F4F4-4FB3-9ADE-5ABEF59808FC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2523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28E4-2626-4239-8285-11FA428F1087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2F27F3-DDD0-46DB-A39E-C6CEA290919E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texte 2"/>
          <p:cNvSpPr>
            <a:spLocks noGrp="1"/>
          </p:cNvSpPr>
          <p:nvPr>
            <p:ph idx="1"/>
          </p:nvPr>
        </p:nvSpPr>
        <p:spPr>
          <a:xfrm>
            <a:off x="1093125" y="1845066"/>
            <a:ext cx="10489275" cy="411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1151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8" Type="http://schemas.microsoft.com/office/2007/relationships/hdphoto" Target="../media/hdphoto2.wdp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20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686AC-3356-4BAF-A86D-E338618F7810}" type="datetime1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57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/>
          </p:cNvPicPr>
          <p:nvPr userDrawn="1"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287" y="6018629"/>
            <a:ext cx="1143137" cy="83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4" descr="logo EGi light"/>
          <p:cNvPicPr>
            <a:picLocks noChangeAspect="1" noChangeArrowheads="1"/>
          </p:cNvPicPr>
          <p:nvPr userDrawn="1"/>
        </p:nvPicPr>
        <p:blipFill>
          <a:blip r:embed="rId1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6238" y="1144252"/>
            <a:ext cx="4499525" cy="4569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21F9-989F-4C19-9F8A-B35864E63568}" type="datetime1">
              <a:rPr lang="fr-FR" smtClean="0"/>
              <a:t>14/01/2025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  <p:pic>
        <p:nvPicPr>
          <p:cNvPr id="9" name="Image 1" descr="cid:image004.jpg@01D62E21.DC7FF4A0"/>
          <p:cNvPicPr>
            <a:picLocks noChangeAspect="1" noChangeArrowheads="1"/>
          </p:cNvPicPr>
          <p:nvPr userDrawn="1"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8" y="6132255"/>
            <a:ext cx="7715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4" y="25544"/>
            <a:ext cx="848225" cy="8609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589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microsoft.com/office/2007/relationships/hdphoto" Target="../media/hdphoto3.wdp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microsoft.com/office/2007/relationships/hdphoto" Target="../media/hdphoto4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jpeg"/><Relationship Id="rId7" Type="http://schemas.microsoft.com/office/2007/relationships/hdphoto" Target="../media/hdphoto3.wdp"/><Relationship Id="rId12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11" Type="http://schemas.openxmlformats.org/officeDocument/2006/relationships/image" Target="../media/image21.png"/><Relationship Id="rId5" Type="http://schemas.openxmlformats.org/officeDocument/2006/relationships/image" Target="../media/image27.pn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png"/><Relationship Id="rId5" Type="http://schemas.microsoft.com/office/2007/relationships/hdphoto" Target="../media/hdphoto5.wdp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png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microsoft.com/office/2007/relationships/hdphoto" Target="../media/hdphoto6.wdp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8.png"/><Relationship Id="rId7" Type="http://schemas.openxmlformats.org/officeDocument/2006/relationships/image" Target="../media/image4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5.png"/><Relationship Id="rId5" Type="http://schemas.microsoft.com/office/2007/relationships/hdphoto" Target="../media/hdphoto5.wdp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7" Type="http://schemas.microsoft.com/office/2007/relationships/hdphoto" Target="../media/hdphoto5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7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5.png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microsoft.com/office/2007/relationships/hdphoto" Target="../media/hdphoto7.wdp"/><Relationship Id="rId5" Type="http://schemas.openxmlformats.org/officeDocument/2006/relationships/image" Target="../media/image46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9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1.png"/><Relationship Id="rId5" Type="http://schemas.openxmlformats.org/officeDocument/2006/relationships/image" Target="../media/image29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87" y="-16083"/>
            <a:ext cx="1374698" cy="15121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l="8298" t="10409" r="11163" b="7831"/>
          <a:stretch/>
        </p:blipFill>
        <p:spPr>
          <a:xfrm>
            <a:off x="668216" y="1978270"/>
            <a:ext cx="2901462" cy="294542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ZoneTexte 10"/>
          <p:cNvSpPr txBox="1"/>
          <p:nvPr/>
        </p:nvSpPr>
        <p:spPr>
          <a:xfrm>
            <a:off x="4106007" y="2666152"/>
            <a:ext cx="70963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Formation Python</a:t>
            </a:r>
          </a:p>
          <a:p>
            <a:pPr algn="ctr"/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1 : Introduction à l’algorithmique</a:t>
            </a:r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727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/>
          <a:srcRect l="8298" t="10409" r="11163" b="7831"/>
          <a:stretch/>
        </p:blipFill>
        <p:spPr>
          <a:xfrm>
            <a:off x="668216" y="1978270"/>
            <a:ext cx="2901462" cy="294542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ZoneTexte 10"/>
          <p:cNvSpPr txBox="1"/>
          <p:nvPr/>
        </p:nvSpPr>
        <p:spPr>
          <a:xfrm>
            <a:off x="4106007" y="2173709"/>
            <a:ext cx="7096346" cy="255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Dédramatisation de l’algorithmique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à un ordinateur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Rédaction d’un algorithme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Fondamentaux de l’algorithmique</a:t>
            </a:r>
            <a:endParaRPr lang="fr-FR" sz="32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013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9486"/>
            <a:ext cx="12192000" cy="4629426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2400299" y="1573823"/>
            <a:ext cx="7121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454376"/>
                </a:solidFill>
              </a:rPr>
              <a:t>Le saviez vous ? </a:t>
            </a:r>
            <a:r>
              <a:rPr lang="fr-FR" dirty="0" smtClean="0"/>
              <a:t>Les algorithmes sont présents dans votre vie quotidienne.</a:t>
            </a:r>
            <a:endParaRPr lang="fr-FR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08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2316267"/>
            <a:ext cx="97706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</a:t>
            </a:r>
          </a:p>
          <a:p>
            <a:pPr algn="ctr"/>
            <a:endParaRPr lang="fr-FR" sz="2400" b="1" dirty="0">
              <a:solidFill>
                <a:srgbClr val="454376"/>
              </a:solidFill>
            </a:endParaRPr>
          </a:p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Vous allez voir une suite de nombres. </a:t>
            </a:r>
          </a:p>
          <a:p>
            <a:pPr algn="ctr"/>
            <a:endParaRPr lang="fr-FR" sz="2400" b="1" dirty="0">
              <a:solidFill>
                <a:srgbClr val="454376"/>
              </a:solidFill>
            </a:endParaRPr>
          </a:p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Il vous sera demandé à la fin de donner le plus grand nombre de cette liste.</a:t>
            </a:r>
          </a:p>
          <a:p>
            <a:pPr algn="ctr"/>
            <a:endParaRPr lang="fr-FR" sz="2400" b="1" dirty="0">
              <a:solidFill>
                <a:srgbClr val="454376"/>
              </a:solidFill>
            </a:endParaRPr>
          </a:p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A vos marques… Prêts 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993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5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6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447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6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25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712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7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9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541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8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21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70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9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13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670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10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31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424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11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19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215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12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11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5316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13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30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28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14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922565" y="3011975"/>
            <a:ext cx="22728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dirty="0" smtClean="0">
                <a:solidFill>
                  <a:srgbClr val="454376"/>
                </a:solidFill>
              </a:rPr>
              <a:t>17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320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8531"/>
            <a:ext cx="12191999" cy="761999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15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4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2022990"/>
            <a:ext cx="97706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</a:t>
            </a:r>
          </a:p>
          <a:p>
            <a:pPr algn="ctr"/>
            <a:endParaRPr lang="fr-FR" sz="2400" b="1" dirty="0">
              <a:solidFill>
                <a:srgbClr val="454376"/>
              </a:solidFill>
            </a:endParaRPr>
          </a:p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Quel était le plus grand nombre de la liste 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1210684" y="3618860"/>
            <a:ext cx="97706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25A39B"/>
                </a:solidFill>
              </a:rPr>
              <a:t>Réponse : 31</a:t>
            </a:r>
          </a:p>
          <a:p>
            <a:pPr algn="ctr"/>
            <a:endParaRPr lang="fr-FR" sz="2400" b="1" dirty="0">
              <a:solidFill>
                <a:srgbClr val="25A39B"/>
              </a:solidFill>
            </a:endParaRPr>
          </a:p>
          <a:p>
            <a:pPr algn="ctr"/>
            <a:r>
              <a:rPr lang="fr-FR" sz="2400" b="1" dirty="0" smtClean="0">
                <a:solidFill>
                  <a:srgbClr val="25A39B"/>
                </a:solidFill>
              </a:rPr>
              <a:t>Bravo!</a:t>
            </a:r>
            <a:endParaRPr lang="fr-FR" sz="2400" dirty="0">
              <a:solidFill>
                <a:srgbClr val="25A39B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584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16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Exemple le plus commun : la recette de cuisine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 rotWithShape="1">
          <a:blip r:embed="rId4"/>
          <a:srcRect t="20545" b="22469"/>
          <a:stretch/>
        </p:blipFill>
        <p:spPr>
          <a:xfrm>
            <a:off x="4447587" y="2385645"/>
            <a:ext cx="3296826" cy="3341077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985" y="2385645"/>
            <a:ext cx="3341077" cy="3341077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38" y="2385645"/>
            <a:ext cx="3341077" cy="3341077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667808" y="5870329"/>
            <a:ext cx="2264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Ingrédients en entrée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4756725" y="5870329"/>
            <a:ext cx="267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Instructions pour cuisiner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9493494" y="5870329"/>
            <a:ext cx="145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Plat en sortie</a:t>
            </a:r>
            <a:endParaRPr lang="fr-FR" dirty="0"/>
          </a:p>
        </p:txBody>
      </p:sp>
      <p:cxnSp>
        <p:nvCxnSpPr>
          <p:cNvPr id="25" name="Connecteur droit avec flèche 24"/>
          <p:cNvCxnSpPr/>
          <p:nvPr/>
        </p:nvCxnSpPr>
        <p:spPr>
          <a:xfrm>
            <a:off x="298938" y="5870329"/>
            <a:ext cx="11594124" cy="0"/>
          </a:xfrm>
          <a:prstGeom prst="straightConnector1">
            <a:avLst/>
          </a:prstGeom>
          <a:ln w="38100">
            <a:solidFill>
              <a:srgbClr val="45437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388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17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 </a:t>
            </a:r>
            <a:r>
              <a:rPr lang="fr-FR" sz="2400" dirty="0" smtClean="0">
                <a:solidFill>
                  <a:srgbClr val="454376"/>
                </a:solidFill>
              </a:rPr>
              <a:t>l’exemple suivant peut-il être traduit en algorithme?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995854" y="2488223"/>
            <a:ext cx="8343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5A39B"/>
                </a:solidFill>
              </a:rPr>
              <a:t>Vous voulez vous rendre au travail en voiture. </a:t>
            </a:r>
            <a:endParaRPr lang="fr-FR" dirty="0" smtClean="0">
              <a:solidFill>
                <a:srgbClr val="25A39B"/>
              </a:solidFill>
            </a:endParaRPr>
          </a:p>
          <a:p>
            <a:pPr algn="ctr"/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sortez de chez vous,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démarrez la voiture,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mettez la ceinture de sécurité,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regardez dans les rétroviseurs,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démarrez,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suivez l'itinéraire que vous connaissez par cœur,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respectez les règles de circulation,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vous garez au travail </a:t>
            </a:r>
            <a:endParaRPr lang="fr-FR" dirty="0" smtClean="0"/>
          </a:p>
          <a:p>
            <a:pPr algn="ctr"/>
            <a:r>
              <a:rPr lang="fr-FR" dirty="0" smtClean="0"/>
              <a:t>et </a:t>
            </a:r>
            <a:r>
              <a:rPr lang="fr-FR" dirty="0"/>
              <a:t>vous éteignez la voiture.</a:t>
            </a:r>
          </a:p>
          <a:p>
            <a:pPr algn="ctr"/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1" b="99766" l="503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6663" y="2746414"/>
            <a:ext cx="3218381" cy="3450191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999" y="2478586"/>
            <a:ext cx="3435594" cy="3435594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4357698" y="5904543"/>
            <a:ext cx="3402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</a:rPr>
              <a:t>Oui ! Un algorithme est présent !</a:t>
            </a:r>
            <a:endParaRPr lang="fr-FR" dirty="0">
              <a:solidFill>
                <a:srgbClr val="109594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910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18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 </a:t>
            </a:r>
            <a:r>
              <a:rPr lang="fr-FR" sz="2400" dirty="0" smtClean="0">
                <a:solidFill>
                  <a:srgbClr val="454376"/>
                </a:solidFill>
              </a:rPr>
              <a:t>l’exemple suivant peut-il être traduit en algorithme?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4019461" y="5919929"/>
            <a:ext cx="42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</a:rPr>
              <a:t>Non ! Cela ne peut pas être un algorithme</a:t>
            </a:r>
            <a:endParaRPr lang="fr-FR" dirty="0">
              <a:solidFill>
                <a:srgbClr val="109594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995854" y="2488223"/>
            <a:ext cx="83439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09594"/>
                </a:solidFill>
              </a:rPr>
              <a:t>Vous voulez acheter une nouvelle paire de chaussures. </a:t>
            </a:r>
            <a:endParaRPr lang="fr-FR" dirty="0" smtClean="0">
              <a:solidFill>
                <a:srgbClr val="109594"/>
              </a:solidFill>
            </a:endParaRPr>
          </a:p>
          <a:p>
            <a:pPr algn="ctr"/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allez dans un magasin,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regardez les chaussures,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essayez plusieurs modèles,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demandez conseil au vendeur,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comparez les prix,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choisissez une paire et vous payez.</a:t>
            </a:r>
          </a:p>
          <a:p>
            <a:pPr algn="ctr"/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52" y="2563638"/>
            <a:ext cx="3356291" cy="335629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0" b="90000" l="9961" r="94189">
                        <a14:foregroundMark x1="52148" y1="78273" x2="52148" y2="78273"/>
                        <a14:foregroundMark x1="25244" y1="51511" x2="25244" y2="51511"/>
                        <a14:foregroundMark x1="76660" y1="49712" x2="76660" y2="49712"/>
                        <a14:foregroundMark x1="62402" y1="53453" x2="62402" y2="53453"/>
                        <a14:foregroundMark x1="69873" y1="12518" x2="69873" y2="125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71057" y="2935834"/>
            <a:ext cx="3536182" cy="2400045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294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19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 </a:t>
            </a:r>
            <a:r>
              <a:rPr lang="fr-FR" sz="2400" dirty="0" smtClean="0">
                <a:solidFill>
                  <a:srgbClr val="454376"/>
                </a:solidFill>
              </a:rPr>
              <a:t>l’exemple suivant peut-il être traduit en algorithme?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4357698" y="5904543"/>
            <a:ext cx="3402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</a:rPr>
              <a:t>Oui ! Un algorithme est présent !</a:t>
            </a:r>
            <a:endParaRPr lang="fr-FR" dirty="0">
              <a:solidFill>
                <a:srgbClr val="109594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995854" y="2488223"/>
            <a:ext cx="8343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09594"/>
                </a:solidFill>
              </a:rPr>
              <a:t>Vous voulez trier vos e-mails. </a:t>
            </a:r>
            <a:endParaRPr lang="fr-FR" dirty="0" smtClean="0">
              <a:solidFill>
                <a:srgbClr val="109594"/>
              </a:solidFill>
            </a:endParaRPr>
          </a:p>
          <a:p>
            <a:pPr algn="ctr"/>
            <a:endParaRPr lang="fr-FR" dirty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ouvrez votre boîte de réception,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lisez les nouveaux messages,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supprimez les spams,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archivez les messages importants,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répondez aux messages urgents </a:t>
            </a:r>
            <a:endParaRPr lang="fr-FR" dirty="0" smtClean="0"/>
          </a:p>
          <a:p>
            <a:pPr algn="ctr"/>
            <a:r>
              <a:rPr lang="fr-FR" dirty="0" smtClean="0"/>
              <a:t>et </a:t>
            </a:r>
            <a:r>
              <a:rPr lang="fr-FR" dirty="0"/>
              <a:t>vous classez les autres messages dans des dossiers.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/>
          <a:srcRect r="46381"/>
          <a:stretch/>
        </p:blipFill>
        <p:spPr>
          <a:xfrm>
            <a:off x="94790" y="2091857"/>
            <a:ext cx="3545226" cy="369848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4"/>
          <a:srcRect l="53504"/>
          <a:stretch/>
        </p:blipFill>
        <p:spPr>
          <a:xfrm>
            <a:off x="9003323" y="2091857"/>
            <a:ext cx="3074270" cy="3698484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535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20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 </a:t>
            </a:r>
            <a:r>
              <a:rPr lang="fr-FR" sz="2400" dirty="0" smtClean="0">
                <a:solidFill>
                  <a:srgbClr val="454376"/>
                </a:solidFill>
              </a:rPr>
              <a:t>l’exemple suivant peut-il être traduit en algorithme?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3966885" y="5919929"/>
            <a:ext cx="425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</a:rPr>
              <a:t>Non ! Cela ne peut pas être un algorithme</a:t>
            </a:r>
            <a:endParaRPr lang="fr-FR" dirty="0">
              <a:solidFill>
                <a:srgbClr val="109594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619144" y="2901984"/>
            <a:ext cx="48797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09594"/>
                </a:solidFill>
              </a:rPr>
              <a:t>Vous voulez vous habiller pour sortir. </a:t>
            </a:r>
            <a:endParaRPr lang="fr-FR" dirty="0" smtClean="0">
              <a:solidFill>
                <a:srgbClr val="109594"/>
              </a:solidFill>
            </a:endParaRPr>
          </a:p>
          <a:p>
            <a:pPr algn="ctr"/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regardez la météo,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choisissez des vêtements adaptés,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vous </a:t>
            </a:r>
            <a:r>
              <a:rPr lang="fr-FR" dirty="0" smtClean="0"/>
              <a:t>habillez selon vos goûts, </a:t>
            </a:r>
          </a:p>
          <a:p>
            <a:pPr algn="ctr"/>
            <a:r>
              <a:rPr lang="fr-FR" dirty="0" smtClean="0"/>
              <a:t>vous </a:t>
            </a:r>
            <a:r>
              <a:rPr lang="fr-FR" dirty="0"/>
              <a:t>vous coiffez </a:t>
            </a:r>
            <a:r>
              <a:rPr lang="fr-FR" dirty="0" smtClean="0"/>
              <a:t>comme bon vous semble</a:t>
            </a:r>
          </a:p>
          <a:p>
            <a:pPr algn="ctr"/>
            <a:r>
              <a:rPr lang="fr-FR" dirty="0" smtClean="0"/>
              <a:t>et </a:t>
            </a:r>
            <a:r>
              <a:rPr lang="fr-FR" dirty="0"/>
              <a:t>vous vous maquillez si vous le souhaitez.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02009"/>
            <a:ext cx="3950065" cy="2631273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875" y="3029718"/>
            <a:ext cx="3559474" cy="1995807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2241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21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 </a:t>
            </a:r>
            <a:r>
              <a:rPr lang="fr-FR" sz="2400" dirty="0" smtClean="0">
                <a:solidFill>
                  <a:srgbClr val="454376"/>
                </a:solidFill>
              </a:rPr>
              <a:t>l’exemple suivant peut-il être traduit en algorithme?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4357698" y="5904543"/>
            <a:ext cx="3402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</a:rPr>
              <a:t>Oui ! Un algorithme est présent !</a:t>
            </a:r>
            <a:endParaRPr lang="fr-FR" dirty="0">
              <a:solidFill>
                <a:srgbClr val="109594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644788" y="2894291"/>
            <a:ext cx="48284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09594"/>
                </a:solidFill>
              </a:rPr>
              <a:t>Vous voulez préparer un café. </a:t>
            </a:r>
            <a:endParaRPr lang="fr-FR" dirty="0" smtClean="0">
              <a:solidFill>
                <a:srgbClr val="109594"/>
              </a:solidFill>
            </a:endParaRPr>
          </a:p>
          <a:p>
            <a:pPr algn="ctr"/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prenez une tasse,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mettez du café moulu dans un filtre,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versez de l'eau dans une cafetière,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allumez la cafetière </a:t>
            </a:r>
            <a:endParaRPr lang="fr-FR" dirty="0" smtClean="0"/>
          </a:p>
          <a:p>
            <a:pPr algn="ctr"/>
            <a:r>
              <a:rPr lang="fr-FR" dirty="0" smtClean="0"/>
              <a:t>et </a:t>
            </a:r>
            <a:r>
              <a:rPr lang="fr-FR" dirty="0"/>
              <a:t>vous attendez que le café soit prêt.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08" y="2789587"/>
            <a:ext cx="3277333" cy="2240732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759" y="2718815"/>
            <a:ext cx="3576271" cy="2382276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20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22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 </a:t>
            </a:r>
            <a:r>
              <a:rPr lang="fr-FR" sz="2400" dirty="0" smtClean="0">
                <a:solidFill>
                  <a:srgbClr val="454376"/>
                </a:solidFill>
              </a:rPr>
              <a:t>l’exemple suivant peut-il être traduit en algorithme?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4357698" y="5904543"/>
            <a:ext cx="3402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</a:rPr>
              <a:t>Oui ! Un algorithme est présent !</a:t>
            </a:r>
            <a:endParaRPr lang="fr-FR" dirty="0">
              <a:solidFill>
                <a:srgbClr val="109594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875396" y="2595352"/>
            <a:ext cx="43672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</a:rPr>
              <a:t>Vous voulez faire les courses.</a:t>
            </a:r>
          </a:p>
          <a:p>
            <a:pPr algn="ctr"/>
            <a:r>
              <a:rPr lang="fr-FR" dirty="0" smtClean="0"/>
              <a:t> </a:t>
            </a:r>
          </a:p>
          <a:p>
            <a:pPr algn="ctr"/>
            <a:r>
              <a:rPr lang="fr-FR" dirty="0" smtClean="0"/>
              <a:t>Vous dressez une liste de courses, </a:t>
            </a:r>
          </a:p>
          <a:p>
            <a:pPr algn="ctr"/>
            <a:r>
              <a:rPr lang="fr-FR" dirty="0" smtClean="0"/>
              <a:t>vous vérifiez ce que vous avez déjà, </a:t>
            </a:r>
          </a:p>
          <a:p>
            <a:pPr algn="ctr"/>
            <a:r>
              <a:rPr lang="fr-FR" dirty="0" smtClean="0"/>
              <a:t>vous allez au magasin, </a:t>
            </a:r>
          </a:p>
          <a:p>
            <a:pPr algn="ctr"/>
            <a:r>
              <a:rPr lang="fr-FR" dirty="0" smtClean="0"/>
              <a:t>vous comparez les prix, </a:t>
            </a:r>
          </a:p>
          <a:p>
            <a:pPr algn="ctr"/>
            <a:r>
              <a:rPr lang="fr-FR" dirty="0" smtClean="0"/>
              <a:t>vous achetez les produits </a:t>
            </a:r>
          </a:p>
          <a:p>
            <a:pPr algn="ctr"/>
            <a:r>
              <a:rPr lang="fr-FR" dirty="0" smtClean="0"/>
              <a:t>et vous rangez les courses.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/>
          <a:srcRect l="17141" r="28588"/>
          <a:stretch/>
        </p:blipFill>
        <p:spPr>
          <a:xfrm>
            <a:off x="718957" y="2118981"/>
            <a:ext cx="3156439" cy="326106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508" y="1997105"/>
            <a:ext cx="2983038" cy="3727309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345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23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 </a:t>
            </a:r>
            <a:r>
              <a:rPr lang="fr-FR" sz="2400" dirty="0" smtClean="0">
                <a:solidFill>
                  <a:srgbClr val="454376"/>
                </a:solidFill>
              </a:rPr>
              <a:t>l’exemple suivant peut-il être traduit en algorithme?</a:t>
            </a:r>
            <a:endParaRPr lang="fr-FR" sz="2400" dirty="0"/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3969638" y="5942166"/>
            <a:ext cx="425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</a:rPr>
              <a:t>Non ! Cela ne peut pas être un algorithme</a:t>
            </a:r>
            <a:endParaRPr lang="fr-FR" dirty="0">
              <a:solidFill>
                <a:srgbClr val="109594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1232" y="1971733"/>
            <a:ext cx="3970433" cy="3970433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20736" y="2822273"/>
            <a:ext cx="5876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09594"/>
                </a:solidFill>
              </a:rPr>
              <a:t>Vous voulez écouter de la musique. </a:t>
            </a:r>
            <a:endParaRPr lang="fr-FR" dirty="0" smtClean="0">
              <a:solidFill>
                <a:srgbClr val="109594"/>
              </a:solidFill>
            </a:endParaRPr>
          </a:p>
          <a:p>
            <a:pPr algn="ctr"/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allumez votre lecteur de musique,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choisissez une playlist ou une chanson qui vous plait, </a:t>
            </a:r>
            <a:endParaRPr lang="fr-FR" dirty="0" smtClean="0"/>
          </a:p>
          <a:p>
            <a:pPr algn="ctr"/>
            <a:r>
              <a:rPr lang="fr-FR" dirty="0" smtClean="0"/>
              <a:t>vous </a:t>
            </a:r>
            <a:r>
              <a:rPr lang="fr-FR" dirty="0"/>
              <a:t>ajustez le volume selon votre environnement </a:t>
            </a:r>
            <a:endParaRPr lang="fr-FR" dirty="0" smtClean="0"/>
          </a:p>
          <a:p>
            <a:pPr algn="ctr"/>
            <a:r>
              <a:rPr lang="fr-FR" dirty="0" smtClean="0"/>
              <a:t>et </a:t>
            </a:r>
            <a:r>
              <a:rPr lang="fr-FR" dirty="0"/>
              <a:t>vous écoutez la musique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146" y="3024123"/>
            <a:ext cx="3327345" cy="1865652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665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161" y="4918197"/>
            <a:ext cx="1603432" cy="160343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24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4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73695" y="1453699"/>
            <a:ext cx="97706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454376"/>
                </a:solidFill>
              </a:rPr>
              <a:t>Exercice : </a:t>
            </a:r>
            <a:endParaRPr lang="fr-FR" sz="2400" b="1" dirty="0">
              <a:solidFill>
                <a:srgbClr val="454376"/>
              </a:solidFill>
            </a:endParaRPr>
          </a:p>
          <a:p>
            <a:pPr algn="ctr"/>
            <a:endParaRPr lang="fr-FR" sz="2400" b="1" dirty="0" smtClean="0">
              <a:solidFill>
                <a:srgbClr val="454376"/>
              </a:solidFill>
            </a:endParaRPr>
          </a:p>
          <a:p>
            <a:pPr algn="ctr"/>
            <a:r>
              <a:rPr lang="fr-FR" sz="2400" dirty="0" smtClean="0">
                <a:solidFill>
                  <a:srgbClr val="454376"/>
                </a:solidFill>
              </a:rPr>
              <a:t>Quelles sont pour vous les différences entre ces exemples ?</a:t>
            </a:r>
          </a:p>
        </p:txBody>
      </p:sp>
      <p:sp>
        <p:nvSpPr>
          <p:cNvPr id="13" name="Heptagone 12"/>
          <p:cNvSpPr/>
          <p:nvPr/>
        </p:nvSpPr>
        <p:spPr>
          <a:xfrm>
            <a:off x="448408" y="1573823"/>
            <a:ext cx="887207" cy="668215"/>
          </a:xfrm>
          <a:prstGeom prst="heptagon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5"/>
          <a:srcRect l="5714" t="52506" r="52998" b="6354"/>
          <a:stretch/>
        </p:blipFill>
        <p:spPr>
          <a:xfrm>
            <a:off x="10348657" y="1538654"/>
            <a:ext cx="1411810" cy="1406768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5"/>
          <a:srcRect l="5285" t="5903" r="53428" b="52662"/>
          <a:stretch/>
        </p:blipFill>
        <p:spPr>
          <a:xfrm>
            <a:off x="649761" y="1573823"/>
            <a:ext cx="1371707" cy="1376606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91" b="99766" l="503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7526" y="3082036"/>
            <a:ext cx="1088970" cy="1167405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3291" y="3602639"/>
            <a:ext cx="1294302" cy="1294302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9"/>
          <a:srcRect r="46381"/>
          <a:stretch/>
        </p:blipFill>
        <p:spPr>
          <a:xfrm>
            <a:off x="1784507" y="3864945"/>
            <a:ext cx="1078905" cy="1125545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6150" y="4383575"/>
            <a:ext cx="1480394" cy="8300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5745" y="5684416"/>
            <a:ext cx="1336430" cy="913725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12"/>
          <a:srcRect l="17141" r="28588"/>
          <a:stretch/>
        </p:blipFill>
        <p:spPr>
          <a:xfrm>
            <a:off x="27436" y="4505693"/>
            <a:ext cx="1549458" cy="1600818"/>
          </a:xfrm>
          <a:prstGeom prst="rect">
            <a:avLst/>
          </a:prstGeom>
        </p:spPr>
      </p:pic>
      <p:cxnSp>
        <p:nvCxnSpPr>
          <p:cNvPr id="26" name="Connecteur droit 25"/>
          <p:cNvCxnSpPr/>
          <p:nvPr/>
        </p:nvCxnSpPr>
        <p:spPr>
          <a:xfrm>
            <a:off x="6059010" y="2945422"/>
            <a:ext cx="0" cy="3410928"/>
          </a:xfrm>
          <a:prstGeom prst="line">
            <a:avLst/>
          </a:prstGeom>
          <a:ln w="38100">
            <a:solidFill>
              <a:srgbClr val="45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6280128" y="3555685"/>
            <a:ext cx="29744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Décisions subjectives, personnelles, complexes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Nécessité d’une intuition, réflexion, sentiment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Ni logique, ni mécanique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3119257" y="3001957"/>
            <a:ext cx="29744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Séquence d’étapes ordonnées exhaustive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Exécution mécanique et automatique sans intervention, de manière universelle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Etapes logiques, prédéfinies, précises selon des règles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672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25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210685" y="1441316"/>
            <a:ext cx="97706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109594"/>
                </a:solidFill>
              </a:rPr>
              <a:t>Algorithmique</a:t>
            </a:r>
          </a:p>
          <a:p>
            <a:pPr algn="ctr"/>
            <a:endParaRPr lang="fr-FR" sz="2400" b="1" dirty="0">
              <a:solidFill>
                <a:srgbClr val="109594"/>
              </a:solidFill>
            </a:endParaRPr>
          </a:p>
          <a:p>
            <a:pPr algn="ctr"/>
            <a:r>
              <a:rPr lang="fr-FR" sz="2400" dirty="0" smtClean="0">
                <a:solidFill>
                  <a:srgbClr val="109594"/>
                </a:solidFill>
              </a:rPr>
              <a:t>Première tentative de définition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9591" y="2641644"/>
            <a:ext cx="1129116" cy="1148862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1458707" y="2892910"/>
            <a:ext cx="9608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smtClean="0">
                <a:solidFill>
                  <a:srgbClr val="109594"/>
                </a:solidFill>
              </a:rPr>
              <a:t>Algorithme VS algorithmique ?</a:t>
            </a:r>
          </a:p>
          <a:p>
            <a:r>
              <a:rPr lang="fr-FR" i="1" dirty="0" smtClean="0"/>
              <a:t>L’algorithmique consiste à définir les règles et techniques pour concevoir des algorithmes.</a:t>
            </a:r>
            <a:endParaRPr lang="fr-FR" i="1" dirty="0"/>
          </a:p>
        </p:txBody>
      </p:sp>
      <p:sp>
        <p:nvSpPr>
          <p:cNvPr id="15" name="Rectangle 14"/>
          <p:cNvSpPr/>
          <p:nvPr/>
        </p:nvSpPr>
        <p:spPr>
          <a:xfrm>
            <a:off x="2395859" y="3790506"/>
            <a:ext cx="7734406" cy="1323439"/>
          </a:xfrm>
          <a:prstGeom prst="rect">
            <a:avLst/>
          </a:prstGeom>
          <a:ln w="28575">
            <a:solidFill>
              <a:srgbClr val="FECC2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Définition n°1 :</a:t>
            </a:r>
          </a:p>
          <a:p>
            <a:pPr algn="ctr"/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mise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place d’une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suite d’instructions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obtenir un </a:t>
            </a:r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résultat</a:t>
            </a:r>
          </a:p>
          <a:p>
            <a:pPr algn="ctr"/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plupart du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temps,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 sert à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un problème en solution </a:t>
            </a:r>
            <a:endParaRPr lang="fr-FR" sz="2000" b="1" dirty="0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591" y="5286085"/>
            <a:ext cx="1702772" cy="12025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" name="Rectangle 29"/>
          <p:cNvSpPr/>
          <p:nvPr/>
        </p:nvSpPr>
        <p:spPr>
          <a:xfrm>
            <a:off x="2395859" y="5365210"/>
            <a:ext cx="7734406" cy="1084015"/>
          </a:xfrm>
          <a:prstGeom prst="rect">
            <a:avLst/>
          </a:prstGeom>
          <a:ln w="19050">
            <a:solidFill>
              <a:srgbClr val="C3121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difficulté principale d’un algorithme réside dans sa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transcription à l’écrit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savoir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expliciter son raisonnement, le formaliser et le concevoir/représenter sous forme d’algorithme. 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843778" y="415061"/>
            <a:ext cx="643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Dédramatisation de l’algorithmique</a:t>
            </a:r>
            <a:endParaRPr lang="fr-FR" sz="28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951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417343" y="267573"/>
            <a:ext cx="5283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	Application à un ordinateur</a:t>
            </a:r>
          </a:p>
          <a:p>
            <a:pPr algn="ctr"/>
            <a:r>
              <a:rPr lang="fr-FR" sz="20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.1. Problème et ordinateur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26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52" y="1580227"/>
            <a:ext cx="3528104" cy="352810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170" y="4243509"/>
            <a:ext cx="4225680" cy="2112841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364" y="1976697"/>
            <a:ext cx="2150304" cy="3835017"/>
          </a:xfrm>
          <a:prstGeom prst="rect">
            <a:avLst/>
          </a:prstGeom>
        </p:spPr>
      </p:pic>
      <p:sp>
        <p:nvSpPr>
          <p:cNvPr id="19" name="ZoneTexte 18"/>
          <p:cNvSpPr txBox="1"/>
          <p:nvPr/>
        </p:nvSpPr>
        <p:spPr>
          <a:xfrm>
            <a:off x="4303813" y="2712553"/>
            <a:ext cx="3584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Ordinateurs ont deux utilités :</a:t>
            </a:r>
          </a:p>
          <a:p>
            <a:r>
              <a:rPr lang="fr-FR" dirty="0" smtClean="0"/>
              <a:t>•	Stockage d'informations</a:t>
            </a:r>
          </a:p>
          <a:p>
            <a:r>
              <a:rPr lang="fr-FR" dirty="0" smtClean="0"/>
              <a:t>•	Traitement d'informations</a:t>
            </a:r>
          </a:p>
        </p:txBody>
      </p:sp>
    </p:spTree>
    <p:extLst>
      <p:ext uri="{BB962C8B-B14F-4D97-AF65-F5344CB8AC3E}">
        <p14:creationId xmlns:p14="http://schemas.microsoft.com/office/powerpoint/2010/main" val="180807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27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l="3467" t="12913" r="1821" b="11499"/>
          <a:stretch/>
        </p:blipFill>
        <p:spPr>
          <a:xfrm>
            <a:off x="0" y="1441317"/>
            <a:ext cx="1907930" cy="1522676"/>
          </a:xfrm>
          <a:prstGeom prst="rect">
            <a:avLst/>
          </a:prstGeom>
        </p:spPr>
      </p:pic>
      <p:pic>
        <p:nvPicPr>
          <p:cNvPr id="12" name="Image 11"/>
          <p:cNvPicPr/>
          <p:nvPr/>
        </p:nvPicPr>
        <p:blipFill rotWithShape="1">
          <a:blip r:embed="rId5"/>
          <a:srcRect r="1398" b="2720"/>
          <a:stretch/>
        </p:blipFill>
        <p:spPr bwMode="auto">
          <a:xfrm>
            <a:off x="2945424" y="1582538"/>
            <a:ext cx="6222522" cy="2762909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/>
          <p:cNvSpPr/>
          <p:nvPr/>
        </p:nvSpPr>
        <p:spPr>
          <a:xfrm>
            <a:off x="3055739" y="4448880"/>
            <a:ext cx="5887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fr-FR" b="1" dirty="0">
                <a:latin typeface="Calibri" panose="020F0502020204030204" pitchFamily="34" charset="0"/>
                <a:ea typeface="Times New Roman" panose="02020603050405020304" pitchFamily="18" charset="0"/>
              </a:rPr>
              <a:t>Traitement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 : exécution séquence </a:t>
            </a: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d'instructions / </a:t>
            </a:r>
            <a:r>
              <a:rPr lang="fr-FR" dirty="0" smtClean="0">
                <a:solidFill>
                  <a:srgbClr val="109594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programme</a:t>
            </a:r>
            <a:endParaRPr lang="fr-FR" sz="2000" dirty="0">
              <a:solidFill>
                <a:srgbClr val="10959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36525" y="5623432"/>
            <a:ext cx="5525808" cy="400110"/>
          </a:xfrm>
          <a:prstGeom prst="rect">
            <a:avLst/>
          </a:prstGeom>
          <a:ln w="28575">
            <a:solidFill>
              <a:srgbClr val="C3121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2000" dirty="0"/>
              <a:t>Quelle différence entre programme et algorithme 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8807" y="4890515"/>
            <a:ext cx="100943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fr-FR" b="1" dirty="0">
                <a:latin typeface="Calibri" panose="020F0502020204030204" pitchFamily="34" charset="0"/>
                <a:ea typeface="Times New Roman" panose="02020603050405020304" pitchFamily="18" charset="0"/>
              </a:rPr>
              <a:t>Programme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 : Suite d'instructions pouvant s'exécuter en séquence ou en parallèle qui réalise un algorithme</a:t>
            </a:r>
            <a:endParaRPr lang="fr-F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068" y="5286086"/>
            <a:ext cx="1702772" cy="12025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ZoneTexte 14"/>
          <p:cNvSpPr txBox="1"/>
          <p:nvPr/>
        </p:nvSpPr>
        <p:spPr>
          <a:xfrm>
            <a:off x="3417343" y="267573"/>
            <a:ext cx="5283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	Application à un ordinateur</a:t>
            </a:r>
          </a:p>
          <a:p>
            <a:pPr algn="ctr"/>
            <a:r>
              <a:rPr lang="fr-FR" sz="20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.1. Problème et ordinateur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186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28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268" y="1555273"/>
            <a:ext cx="2834122" cy="15891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03" y="1555273"/>
            <a:ext cx="1986375" cy="1589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296106" y="1555273"/>
            <a:ext cx="5525808" cy="400110"/>
          </a:xfrm>
          <a:prstGeom prst="rect">
            <a:avLst/>
          </a:prstGeom>
          <a:ln w="28575">
            <a:solidFill>
              <a:srgbClr val="C3121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2000" dirty="0"/>
              <a:t>Quelle différence entre programme et algorithme 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2719097"/>
            <a:ext cx="50409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109594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Programme ?</a:t>
            </a:r>
          </a:p>
          <a:p>
            <a:endParaRPr lang="fr-FR" dirty="0" smtClean="0">
              <a:solidFill>
                <a:srgbClr val="109594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</a:rPr>
              <a:t>implémentation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concrète d'un algorithme, 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</a:rPr>
              <a:t>spécifie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les détails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</a:rPr>
              <a:t>de traitement des données et d’exécution des instructions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</a:rPr>
              <a:t>Écrit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dans un langage de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</a:rPr>
              <a:t>programmation*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</a:rPr>
              <a:t>*</a:t>
            </a:r>
            <a:r>
              <a:rPr lang="fr-FR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ensemble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</a:rPr>
              <a:t>de règles de vocabulaire et de syntaxe compris par un </a:t>
            </a:r>
            <a:r>
              <a:rPr lang="fr-FR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ordinateur</a:t>
            </a:r>
            <a:endParaRPr lang="fr-FR" i="1" dirty="0"/>
          </a:p>
        </p:txBody>
      </p:sp>
      <p:sp>
        <p:nvSpPr>
          <p:cNvPr id="19" name="Rectangle 18"/>
          <p:cNvSpPr/>
          <p:nvPr/>
        </p:nvSpPr>
        <p:spPr>
          <a:xfrm>
            <a:off x="348761" y="3550094"/>
            <a:ext cx="4946772" cy="2031325"/>
          </a:xfrm>
          <a:prstGeom prst="rect">
            <a:avLst/>
          </a:prstGeom>
          <a:ln w="28575">
            <a:solidFill>
              <a:srgbClr val="FECC2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 smtClean="0">
                <a:solidFill>
                  <a:srgbClr val="10959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Algorithme ?</a:t>
            </a:r>
          </a:p>
          <a:p>
            <a:pPr algn="ctr"/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Tentative n°2 de définition</a:t>
            </a:r>
          </a:p>
          <a:p>
            <a:pPr algn="ctr"/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méthode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abstraite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générale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atteindre un objectif spécifique, 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peut être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implémentée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différents langages de programmation ou même à la main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3417343" y="267573"/>
            <a:ext cx="5283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	Application à un ordinateur</a:t>
            </a:r>
          </a:p>
          <a:p>
            <a:pPr algn="ctr"/>
            <a:r>
              <a:rPr lang="fr-FR" sz="20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.1. Problème et ordinateur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98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29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710" y="2339395"/>
            <a:ext cx="10134600" cy="140970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148755" y="1754069"/>
            <a:ext cx="590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454376"/>
                </a:solidFill>
              </a:rPr>
              <a:t>Comment résoudre un problème de manière informatique ?</a:t>
            </a:r>
            <a:endParaRPr lang="fr-FR" b="1" dirty="0">
              <a:solidFill>
                <a:srgbClr val="454376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31" y="3904310"/>
            <a:ext cx="3651936" cy="258435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08684" y="3820244"/>
            <a:ext cx="4372708" cy="266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Chacun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visualise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problème différemment.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 est important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Répertorier les bonnes données</a:t>
            </a: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Respecter l’ordre dans les instructions</a:t>
            </a: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Avoir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 écriture rigoureuse </a:t>
            </a: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Respecter la syntaxe </a:t>
            </a: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Commenter les algorithmes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Rechercher l'efficacité 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3417343" y="267573"/>
            <a:ext cx="5283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	Application à un ordinateur</a:t>
            </a:r>
          </a:p>
          <a:p>
            <a:pPr algn="ctr"/>
            <a:r>
              <a:rPr lang="fr-FR" sz="20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.1. Problème et ordinateur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6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30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8" y="1542443"/>
            <a:ext cx="2683742" cy="201280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430" y="1542444"/>
            <a:ext cx="2749061" cy="2061796"/>
          </a:xfrm>
          <a:prstGeom prst="rect">
            <a:avLst/>
          </a:prstGeom>
        </p:spPr>
      </p:pic>
      <p:sp>
        <p:nvSpPr>
          <p:cNvPr id="17" name="Flèche droite 16"/>
          <p:cNvSpPr/>
          <p:nvPr/>
        </p:nvSpPr>
        <p:spPr>
          <a:xfrm>
            <a:off x="3859823" y="1639159"/>
            <a:ext cx="4396154" cy="550126"/>
          </a:xfrm>
          <a:prstGeom prst="rightArrow">
            <a:avLst/>
          </a:prstGeom>
          <a:solidFill>
            <a:srgbClr val="BAE997"/>
          </a:solidFill>
        </p:spPr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94628" y="3780692"/>
            <a:ext cx="268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</a:t>
            </a:r>
            <a:r>
              <a:rPr lang="fr-FR" b="1" dirty="0" smtClean="0"/>
              <a:t>asser du problème…</a:t>
            </a:r>
            <a:endParaRPr lang="fr-FR" b="1" dirty="0"/>
          </a:p>
        </p:txBody>
      </p:sp>
      <p:sp>
        <p:nvSpPr>
          <p:cNvPr id="19" name="ZoneTexte 18"/>
          <p:cNvSpPr txBox="1"/>
          <p:nvPr/>
        </p:nvSpPr>
        <p:spPr>
          <a:xfrm>
            <a:off x="9370089" y="3766966"/>
            <a:ext cx="268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dirty="0" smtClean="0"/>
              <a:t>…à la solution?</a:t>
            </a:r>
            <a:endParaRPr lang="fr-FR" b="1" dirty="0"/>
          </a:p>
        </p:txBody>
      </p:sp>
      <p:sp>
        <p:nvSpPr>
          <p:cNvPr id="20" name="ZoneTexte 19"/>
          <p:cNvSpPr txBox="1"/>
          <p:nvPr/>
        </p:nvSpPr>
        <p:spPr>
          <a:xfrm>
            <a:off x="5306579" y="1729556"/>
            <a:ext cx="150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Comment</a:t>
            </a:r>
            <a:endParaRPr lang="fr-FR" b="1" dirty="0"/>
          </a:p>
        </p:txBody>
      </p:sp>
      <p:sp>
        <p:nvSpPr>
          <p:cNvPr id="21" name="Rectangle 20"/>
          <p:cNvSpPr/>
          <p:nvPr/>
        </p:nvSpPr>
        <p:spPr>
          <a:xfrm>
            <a:off x="3048000" y="2279682"/>
            <a:ext cx="6096000" cy="12777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Analyse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fr-FR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identifier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problème, comprendre ses limites et cas particuliers et le découper en plusieurs tâches simples 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i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Etude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fr-FR" i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faisabilité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59723" y="3786807"/>
            <a:ext cx="6096000" cy="9814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Conception :</a:t>
            </a: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transformation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 données en résultat, logique d'enchaînement et cas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particuliers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9723" y="5029162"/>
            <a:ext cx="6096000" cy="138037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 Création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l'algorithme</a:t>
            </a: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**</a:t>
            </a: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+mj-lt"/>
              <a:buAutoNum type="arabicParenR"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4) Encodage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fr-FR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traduire selon le langage de programmation 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417343" y="267573"/>
            <a:ext cx="5283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	Application à un ordinateur</a:t>
            </a: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2.2. Préparation d’un algorithme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500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31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204" y="1814893"/>
            <a:ext cx="2506969" cy="447111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70" y="4206025"/>
            <a:ext cx="3124861" cy="20799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618" y="1639160"/>
            <a:ext cx="3129413" cy="17546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53527" y="5222064"/>
            <a:ext cx="6096000" cy="9814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Édition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 résultats : </a:t>
            </a:r>
            <a:endParaRPr lang="fr-FR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mpression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l'écran, dans un fichier 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Affichage/sortie </a:t>
            </a: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 résultats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4620327" y="163916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454376"/>
                </a:solidFill>
              </a:rPr>
              <a:t>Création d’un algorithme</a:t>
            </a:r>
            <a:endParaRPr lang="fr-FR" b="1" dirty="0">
              <a:solidFill>
                <a:srgbClr val="454376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53527" y="2264651"/>
            <a:ext cx="6096000" cy="12777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Préparation du traitement : </a:t>
            </a:r>
            <a:endParaRPr lang="fr-FR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onnées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nécessaires à la résolution du problème 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renseigner en entrée </a:t>
            </a:r>
          </a:p>
          <a:p>
            <a:pPr marL="457200" algn="ctr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Déclaration de variables/demande de </a:t>
            </a: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données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53527" y="3595176"/>
            <a:ext cx="6096000" cy="157414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Traitement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fr-FR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pas, décomposer en sous-problèmes, 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attention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l'ordre des instructions (indépendantes ou non), déterminer la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</a:t>
            </a:r>
          </a:p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Instructions/tests/boucles</a:t>
            </a:r>
            <a:endParaRPr lang="fr-FR" dirty="0">
              <a:solidFill>
                <a:srgbClr val="454376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417343" y="267573"/>
            <a:ext cx="5283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	Application à un ordinateur</a:t>
            </a: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2.2. Préparation d’un algorithme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568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horizontal à deux flèches 13"/>
          <p:cNvSpPr/>
          <p:nvPr/>
        </p:nvSpPr>
        <p:spPr>
          <a:xfrm>
            <a:off x="4374378" y="2709622"/>
            <a:ext cx="3369261" cy="2831123"/>
          </a:xfrm>
          <a:prstGeom prst="leftRightArrowCallout">
            <a:avLst/>
          </a:prstGeom>
          <a:solidFill>
            <a:srgbClr val="BAE997"/>
          </a:solidFill>
          <a:ln>
            <a:solidFill>
              <a:srgbClr val="FECC28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32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algorithme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204" y="1814893"/>
            <a:ext cx="2506969" cy="4471118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3142146" y="1639159"/>
            <a:ext cx="583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454376"/>
                </a:solidFill>
              </a:rPr>
              <a:t>Comment décomposer un problème en sous problèmes ?</a:t>
            </a:r>
            <a:endParaRPr lang="fr-FR" b="1" dirty="0">
              <a:solidFill>
                <a:srgbClr val="45437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41323" y="3087554"/>
            <a:ext cx="1635370" cy="1984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Structurée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Ordonnée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Universelle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Claire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Efficace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82" b="99558" l="2188" r="9968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091" y="4367013"/>
            <a:ext cx="2913185" cy="205743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955" y="1639159"/>
            <a:ext cx="2486025" cy="2486025"/>
          </a:xfrm>
          <a:prstGeom prst="rect">
            <a:avLst/>
          </a:prstGeom>
        </p:spPr>
      </p:pic>
      <p:sp>
        <p:nvSpPr>
          <p:cNvPr id="12" name="Rectangle horizontal à deux flèches 11"/>
          <p:cNvSpPr/>
          <p:nvPr/>
        </p:nvSpPr>
        <p:spPr>
          <a:xfrm>
            <a:off x="5671038" y="3015762"/>
            <a:ext cx="2795954" cy="2699238"/>
          </a:xfrm>
          <a:prstGeom prst="leftRightArrowCallou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9019" y="2181000"/>
            <a:ext cx="3853962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écrire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algorithme de manière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7868611" y="3940517"/>
            <a:ext cx="156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25A39B"/>
                </a:solidFill>
              </a:rPr>
              <a:t>Pseudocode</a:t>
            </a:r>
            <a:endParaRPr lang="fr-FR" b="1" dirty="0">
              <a:solidFill>
                <a:srgbClr val="25A39B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2858554" y="3940517"/>
            <a:ext cx="160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25A39B"/>
                </a:solidFill>
              </a:rPr>
              <a:t>Organigramme</a:t>
            </a:r>
            <a:endParaRPr lang="fr-FR" b="1" dirty="0">
              <a:solidFill>
                <a:srgbClr val="25A3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77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/>
      <p:bldP spid="15" grpId="0"/>
      <p:bldP spid="1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33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.1. Pseudocode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75302" y="1639159"/>
            <a:ext cx="156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25A39B"/>
                </a:solidFill>
              </a:rPr>
              <a:t>Pseudocode</a:t>
            </a:r>
            <a:endParaRPr lang="fr-FR" b="1" dirty="0">
              <a:solidFill>
                <a:srgbClr val="25A39B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75690" y="2250320"/>
            <a:ext cx="8566638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Implémentation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d'un algorithme sous la forme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d'annotations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de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texte informatif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écrit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langage clair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dont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instructions sont délimitées par les mots-clés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début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069" y="2310831"/>
            <a:ext cx="1090021" cy="110908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928090" y="3100076"/>
            <a:ext cx="8566638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Englobe les </a:t>
            </a: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structures et syntaxes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communes aux différents langages de programmation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Image 20"/>
          <p:cNvPicPr/>
          <p:nvPr/>
        </p:nvPicPr>
        <p:blipFill rotWithShape="1">
          <a:blip r:embed="rId6"/>
          <a:srcRect l="2232" t="29526" r="1800" b="3803"/>
          <a:stretch/>
        </p:blipFill>
        <p:spPr>
          <a:xfrm>
            <a:off x="1660569" y="2008491"/>
            <a:ext cx="8796880" cy="4305216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30401" y="1469230"/>
            <a:ext cx="2447192" cy="151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2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/>
          <p:cNvPicPr/>
          <p:nvPr/>
        </p:nvPicPr>
        <p:blipFill rotWithShape="1">
          <a:blip r:embed="rId2"/>
          <a:srcRect l="2232" t="29526" r="1800" b="3803"/>
          <a:stretch/>
        </p:blipFill>
        <p:spPr>
          <a:xfrm>
            <a:off x="1660569" y="2008491"/>
            <a:ext cx="8796880" cy="4305216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34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4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.1. Pseudocode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75302" y="1639159"/>
            <a:ext cx="156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25A39B"/>
                </a:solidFill>
              </a:rPr>
              <a:t>Pseudocode</a:t>
            </a:r>
            <a:endParaRPr lang="fr-FR" b="1" dirty="0">
              <a:solidFill>
                <a:srgbClr val="25A39B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660569" y="1965848"/>
            <a:ext cx="3140031" cy="38686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95579" y="1974613"/>
            <a:ext cx="1327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Nommage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9737809" y="2263496"/>
            <a:ext cx="245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Commentaire descriptif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125215" y="4826251"/>
            <a:ext cx="1327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Opération</a:t>
            </a:r>
            <a:endParaRPr lang="fr-FR" dirty="0"/>
          </a:p>
        </p:txBody>
      </p:sp>
      <p:sp>
        <p:nvSpPr>
          <p:cNvPr id="24" name="Rectangle à coins arrondis 23"/>
          <p:cNvSpPr/>
          <p:nvPr/>
        </p:nvSpPr>
        <p:spPr>
          <a:xfrm>
            <a:off x="2015192" y="4826251"/>
            <a:ext cx="4429570" cy="38686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1660568" y="2797535"/>
            <a:ext cx="4608347" cy="38686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96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7" grpId="0"/>
      <p:bldP spid="23" grpId="0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8000" contrast="-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697" y="1441316"/>
            <a:ext cx="10260623" cy="498602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35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5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.1. Pseudocode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46911" y="2341284"/>
            <a:ext cx="90241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b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Variable</a:t>
            </a: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: </a:t>
            </a:r>
            <a:endParaRPr lang="fr-FR" dirty="0" smtClean="0">
              <a:solidFill>
                <a:schemeClr val="bg1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But : stocker 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des informations à référencer et à manipuler dans un programme </a:t>
            </a: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informatique </a:t>
            </a:r>
          </a:p>
          <a:p>
            <a:pPr algn="ctr">
              <a:spcAft>
                <a:spcPts val="0"/>
              </a:spcAft>
            </a:pPr>
            <a:r>
              <a:rPr lang="fr-FR" i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dans </a:t>
            </a:r>
            <a:r>
              <a:rPr lang="fr-FR" i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la langue française, ce serait un </a:t>
            </a:r>
            <a:r>
              <a:rPr lang="fr-FR" i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nom</a:t>
            </a:r>
            <a:endParaRPr lang="fr-FR" sz="2000" i="1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705549" y="1546120"/>
            <a:ext cx="2706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ECC28"/>
                </a:solidFill>
              </a:rPr>
              <a:t>Préparation du traitement</a:t>
            </a:r>
            <a:endParaRPr lang="fr-FR" b="1" dirty="0">
              <a:solidFill>
                <a:srgbClr val="FECC28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6860" y="3669455"/>
            <a:ext cx="11043139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b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Déclaration </a:t>
            </a:r>
            <a:r>
              <a:rPr lang="fr-FR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 </a:t>
            </a:r>
            <a:r>
              <a:rPr lang="fr-FR" b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données</a:t>
            </a:r>
          </a:p>
          <a:p>
            <a:pPr algn="ctr">
              <a:spcAft>
                <a:spcPts val="0"/>
              </a:spcAft>
            </a:pP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Variable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&lt;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nom&gt; : type </a:t>
            </a:r>
            <a:endParaRPr lang="fr-FR" dirty="0" smtClean="0">
              <a:solidFill>
                <a:schemeClr val="bg1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réserver 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 l'espace pour stocker des </a:t>
            </a: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données qui pourront être modifiées, </a:t>
            </a:r>
          </a:p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dépendant 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du type de la </a:t>
            </a: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donnée</a:t>
            </a:r>
          </a:p>
          <a:p>
            <a:pPr algn="ctr">
              <a:spcAft>
                <a:spcPts val="0"/>
              </a:spcAft>
            </a:pP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b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Constante</a:t>
            </a: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&lt;nom&gt; : </a:t>
            </a: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type</a:t>
            </a:r>
          </a:p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réserver 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 l'espace pour stocker des données qui ne changeront pas</a:t>
            </a:r>
            <a:endParaRPr lang="fr-FR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9943" y="3669455"/>
            <a:ext cx="867639" cy="882812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9686567" y="4119146"/>
            <a:ext cx="1576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 smtClean="0">
                <a:solidFill>
                  <a:schemeClr val="bg1"/>
                </a:solidFill>
              </a:rPr>
              <a:t>À approfondir avec Python</a:t>
            </a:r>
            <a:endParaRPr lang="fr-FR" sz="1600" i="1" dirty="0">
              <a:solidFill>
                <a:schemeClr val="bg1"/>
              </a:solidFill>
            </a:endParaRPr>
          </a:p>
        </p:txBody>
      </p:sp>
      <p:cxnSp>
        <p:nvCxnSpPr>
          <p:cNvPr id="22" name="Connecteur en arc 21"/>
          <p:cNvCxnSpPr/>
          <p:nvPr/>
        </p:nvCxnSpPr>
        <p:spPr>
          <a:xfrm flipV="1">
            <a:off x="7112977" y="4290646"/>
            <a:ext cx="1916966" cy="167054"/>
          </a:xfrm>
          <a:prstGeom prst="curvedConnector3">
            <a:avLst/>
          </a:prstGeom>
          <a:ln>
            <a:solidFill>
              <a:srgbClr val="FE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à coins arrondis 26"/>
          <p:cNvSpPr/>
          <p:nvPr/>
        </p:nvSpPr>
        <p:spPr>
          <a:xfrm>
            <a:off x="6499013" y="4264269"/>
            <a:ext cx="464495" cy="38686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32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8000" contrast="-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697" y="1441316"/>
            <a:ext cx="10260623" cy="498602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36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5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.1. Pseudocode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09047" y="2088605"/>
            <a:ext cx="869992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On distingue 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trois grandes catégories d’instructions :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fr-FR" dirty="0" smtClean="0">
              <a:solidFill>
                <a:schemeClr val="bg1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 </a:t>
            </a:r>
            <a:r>
              <a:rPr lang="fr-FR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opérations de base 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: </a:t>
            </a:r>
            <a:endParaRPr lang="fr-FR" dirty="0" smtClean="0">
              <a:solidFill>
                <a:schemeClr val="bg1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addition</a:t>
            </a: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soustraction, multiplication, division... 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sz="12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Exemple : "tire" + "-" + "bouchon" =&gt; "tire-bouchon</a:t>
            </a:r>
            <a:r>
              <a:rPr lang="fr-FR" sz="1200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".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9" name="Image 18"/>
          <p:cNvPicPr/>
          <p:nvPr/>
        </p:nvPicPr>
        <p:blipFill rotWithShape="1">
          <a:blip r:embed="rId6"/>
          <a:srcRect l="5793" t="71676" r="45193" b="20835"/>
          <a:stretch/>
        </p:blipFill>
        <p:spPr>
          <a:xfrm>
            <a:off x="3849565" y="3692538"/>
            <a:ext cx="4492869" cy="483577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ZoneTexte 8"/>
          <p:cNvSpPr txBox="1"/>
          <p:nvPr/>
        </p:nvSpPr>
        <p:spPr>
          <a:xfrm>
            <a:off x="5433233" y="1522654"/>
            <a:ext cx="125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FECC28"/>
                </a:solidFill>
              </a:rPr>
              <a:t>Traitement</a:t>
            </a:r>
            <a:endParaRPr lang="fr-FR" b="1" dirty="0">
              <a:solidFill>
                <a:srgbClr val="FECC28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7"/>
          <a:srcRect l="3084" t="9426" r="13705" b="10838"/>
          <a:stretch/>
        </p:blipFill>
        <p:spPr>
          <a:xfrm>
            <a:off x="3190916" y="4774736"/>
            <a:ext cx="5745341" cy="1481421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4625862" y="4290759"/>
            <a:ext cx="286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Interaction avec </a:t>
            </a:r>
            <a:r>
              <a:rPr lang="fr-FR" dirty="0">
                <a:solidFill>
                  <a:schemeClr val="bg1"/>
                </a:solidFill>
              </a:rPr>
              <a:t>l</a:t>
            </a:r>
            <a:r>
              <a:rPr lang="fr-FR" dirty="0" smtClean="0">
                <a:solidFill>
                  <a:schemeClr val="bg1"/>
                </a:solidFill>
              </a:rPr>
              <a:t>es variables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82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37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Organigramme / Logigramme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6860" y="1511656"/>
            <a:ext cx="11544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fr-FR" b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rganigramme algorithmique</a:t>
            </a:r>
          </a:p>
          <a:p>
            <a:pPr algn="ctr"/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algn="ctr"/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Diagramme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qui représente </a:t>
            </a:r>
            <a:r>
              <a:rPr lang="fr-FR" b="1" dirty="0">
                <a:latin typeface="Calibri" panose="020F0502020204030204" pitchFamily="34" charset="0"/>
                <a:ea typeface="Times New Roman" panose="02020603050405020304" pitchFamily="18" charset="0"/>
              </a:rPr>
              <a:t>visuellement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 les étapes d'un algorithme à l'aide de </a:t>
            </a:r>
            <a:r>
              <a:rPr lang="fr-FR" b="1" dirty="0">
                <a:latin typeface="Calibri" panose="020F0502020204030204" pitchFamily="34" charset="0"/>
                <a:ea typeface="Times New Roman" panose="02020603050405020304" pitchFamily="18" charset="0"/>
              </a:rPr>
              <a:t>symboles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 et de </a:t>
            </a:r>
            <a:r>
              <a:rPr lang="fr-FR" b="1" dirty="0">
                <a:latin typeface="Calibri" panose="020F0502020204030204" pitchFamily="34" charset="0"/>
                <a:ea typeface="Times New Roman" panose="02020603050405020304" pitchFamily="18" charset="0"/>
              </a:rPr>
              <a:t>flèches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  <a:endParaRPr lang="fr-FR" dirty="0" smtClean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ctr"/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Description de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manière claire et structurée </a:t>
            </a: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des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différentes actions à effectuer pour résoudre un problème donné.</a:t>
            </a:r>
            <a:endParaRPr lang="fr-F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" name="Image 14" descr="EXEMPLE 3 [REPRÉSENTATION D'UN ALGORITHME]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97" y="2711985"/>
            <a:ext cx="3921710" cy="400949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Rectangle 11"/>
          <p:cNvSpPr/>
          <p:nvPr/>
        </p:nvSpPr>
        <p:spPr>
          <a:xfrm>
            <a:off x="6485531" y="5571739"/>
            <a:ext cx="3467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Flux de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contrôle entre les </a:t>
            </a: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symboles</a:t>
            </a:r>
            <a:endParaRPr lang="fr-F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65392" y="3940372"/>
            <a:ext cx="3039615" cy="369332"/>
          </a:xfrm>
          <a:prstGeom prst="rect">
            <a:avLst/>
          </a:prstGeom>
          <a:ln w="28575">
            <a:solidFill>
              <a:srgbClr val="454376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fr-FR" dirty="0"/>
              <a:t>Action / opération à effectuer</a:t>
            </a:r>
          </a:p>
        </p:txBody>
      </p:sp>
      <p:cxnSp>
        <p:nvCxnSpPr>
          <p:cNvPr id="20" name="Connecteur droit avec flèche 19"/>
          <p:cNvCxnSpPr/>
          <p:nvPr/>
        </p:nvCxnSpPr>
        <p:spPr>
          <a:xfrm>
            <a:off x="6559061" y="6017384"/>
            <a:ext cx="3371877" cy="0"/>
          </a:xfrm>
          <a:prstGeom prst="straightConnector1">
            <a:avLst/>
          </a:prstGeom>
          <a:ln w="28575">
            <a:solidFill>
              <a:srgbClr val="4543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/>
          <p:cNvSpPr/>
          <p:nvPr/>
        </p:nvSpPr>
        <p:spPr>
          <a:xfrm>
            <a:off x="6639463" y="3127263"/>
            <a:ext cx="3291475" cy="519351"/>
          </a:xfrm>
          <a:prstGeom prst="ellipse">
            <a:avLst/>
          </a:prstGeom>
          <a:ln w="28575">
            <a:solidFill>
              <a:srgbClr val="454376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fr-FR" dirty="0"/>
              <a:t>Début / fin algorithme</a:t>
            </a:r>
          </a:p>
        </p:txBody>
      </p:sp>
      <p:sp>
        <p:nvSpPr>
          <p:cNvPr id="23" name="Losange 22"/>
          <p:cNvSpPr/>
          <p:nvPr/>
        </p:nvSpPr>
        <p:spPr>
          <a:xfrm>
            <a:off x="5673883" y="4557528"/>
            <a:ext cx="5222631" cy="733663"/>
          </a:xfrm>
          <a:prstGeom prst="diamond">
            <a:avLst/>
          </a:prstGeom>
          <a:ln w="28575">
            <a:solidFill>
              <a:srgbClr val="454376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Décision / test à effectuer</a:t>
            </a: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2576" y="4924359"/>
            <a:ext cx="2447192" cy="151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5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38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Organigramme / Logigramme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Image 14" descr="EXEMPLE 3 [REPRÉSENTATION D'UN ALGORITHME]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74" y="1507438"/>
            <a:ext cx="4431664" cy="5051623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Rectangle 5"/>
          <p:cNvSpPr/>
          <p:nvPr/>
        </p:nvSpPr>
        <p:spPr>
          <a:xfrm>
            <a:off x="5699033" y="2132852"/>
            <a:ext cx="511197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On distingue trois grandes catégories d’instructions :</a:t>
            </a: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  </a:t>
            </a:r>
            <a:endParaRPr lang="fr-FR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b="1" dirty="0" smtClean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L’exécution conditionnelle </a:t>
            </a:r>
          </a:p>
          <a:p>
            <a:pPr algn="ctr"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si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(condition), </a:t>
            </a:r>
            <a:endParaRPr lang="fr-FR" dirty="0" smtClean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alors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(fais ça), </a:t>
            </a:r>
            <a:endParaRPr lang="fr-FR" dirty="0" smtClean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sinon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(fais ça</a:t>
            </a: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). </a:t>
            </a:r>
            <a:endParaRPr lang="fr-FR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fr-FR" sz="1200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Exemple </a:t>
            </a:r>
            <a:r>
              <a:rPr lang="fr-FR" sz="1200" dirty="0">
                <a:latin typeface="Calibri" panose="020F0502020204030204" pitchFamily="34" charset="0"/>
                <a:ea typeface="Times New Roman" panose="02020603050405020304" pitchFamily="18" charset="0"/>
              </a:rPr>
              <a:t>: si je suis connectée, affiche "Salut Céline </a:t>
            </a:r>
            <a:r>
              <a:rPr lang="fr-FR" sz="1200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!".</a:t>
            </a:r>
          </a:p>
        </p:txBody>
      </p:sp>
      <p:sp>
        <p:nvSpPr>
          <p:cNvPr id="21" name="Rectangle à coins arrondis 20"/>
          <p:cNvSpPr/>
          <p:nvPr/>
        </p:nvSpPr>
        <p:spPr>
          <a:xfrm>
            <a:off x="1137845" y="5299341"/>
            <a:ext cx="822840" cy="38686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24" name="Rectangle à coins arrondis 23"/>
          <p:cNvSpPr/>
          <p:nvPr/>
        </p:nvSpPr>
        <p:spPr>
          <a:xfrm>
            <a:off x="1067507" y="2711986"/>
            <a:ext cx="954724" cy="67758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56029" y="4633925"/>
            <a:ext cx="471196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ctr">
              <a:spcAft>
                <a:spcPts val="0"/>
              </a:spcAft>
            </a:pPr>
            <a:r>
              <a:rPr lang="fr-FR" b="1" dirty="0" smtClean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L'itération</a:t>
            </a:r>
            <a:endParaRPr lang="fr-FR" b="1" dirty="0">
              <a:solidFill>
                <a:srgbClr val="454376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algn="ctr"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répéter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une instruction, </a:t>
            </a:r>
          </a:p>
          <a:p>
            <a:pPr marL="457200" algn="ctr">
              <a:spcAft>
                <a:spcPts val="0"/>
              </a:spcAft>
            </a:pP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un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nombre </a:t>
            </a:r>
            <a:r>
              <a:rPr lang="fr-FR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(in)déterminé </a:t>
            </a: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</a:rPr>
              <a:t>de fois. </a:t>
            </a:r>
            <a:endParaRPr lang="fr-FR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algn="ctr">
              <a:spcAft>
                <a:spcPts val="0"/>
              </a:spcAft>
            </a:pPr>
            <a:r>
              <a:rPr lang="fr-FR" sz="1200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Exemple </a:t>
            </a:r>
            <a:r>
              <a:rPr lang="fr-FR" sz="1200" dirty="0">
                <a:latin typeface="Calibri" panose="020F0502020204030204" pitchFamily="34" charset="0"/>
                <a:ea typeface="Times New Roman" panose="02020603050405020304" pitchFamily="18" charset="0"/>
              </a:rPr>
              <a:t>: affiche chaque photo de mon album "Les rappeurs de Neuilly".</a:t>
            </a:r>
            <a:endParaRPr lang="fr-F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" name="Rectangle à coins arrondis 26"/>
          <p:cNvSpPr/>
          <p:nvPr/>
        </p:nvSpPr>
        <p:spPr>
          <a:xfrm>
            <a:off x="1631502" y="2034400"/>
            <a:ext cx="2896536" cy="24280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28" name="Rectangle à coins arrondis 27"/>
          <p:cNvSpPr/>
          <p:nvPr/>
        </p:nvSpPr>
        <p:spPr>
          <a:xfrm>
            <a:off x="4411515" y="2280047"/>
            <a:ext cx="116523" cy="427901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29" name="Rectangle à coins arrondis 28"/>
          <p:cNvSpPr/>
          <p:nvPr/>
        </p:nvSpPr>
        <p:spPr>
          <a:xfrm>
            <a:off x="1483323" y="6369738"/>
            <a:ext cx="2928192" cy="18932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69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 animBg="1"/>
      <p:bldP spid="24" grpId="0" animBg="1"/>
      <p:bldP spid="26" grpId="0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39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Organigramme / Logigramme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6264" y="1800589"/>
            <a:ext cx="3550196" cy="1477328"/>
          </a:xfrm>
          <a:prstGeom prst="rect">
            <a:avLst/>
          </a:prstGeom>
          <a:ln w="19050">
            <a:solidFill>
              <a:srgbClr val="45437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</a:t>
            </a:r>
            <a:r>
              <a:rPr lang="fr-FR" dirty="0" smtClean="0"/>
              <a:t> </a:t>
            </a:r>
            <a:r>
              <a:rPr lang="fr-FR" dirty="0"/>
              <a:t>&lt;expression </a:t>
            </a:r>
            <a:r>
              <a:rPr lang="fr-FR" dirty="0" smtClean="0"/>
              <a:t>logique / condition&gt; 	Instructions</a:t>
            </a:r>
          </a:p>
          <a:p>
            <a:pPr>
              <a:spcAft>
                <a:spcPts val="0"/>
              </a:spcAft>
            </a:pP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Sinon</a:t>
            </a:r>
            <a:r>
              <a:rPr lang="fr-FR" dirty="0" smtClean="0"/>
              <a:t> </a:t>
            </a:r>
          </a:p>
          <a:p>
            <a:pPr>
              <a:spcAft>
                <a:spcPts val="0"/>
              </a:spcAft>
            </a:pPr>
            <a:r>
              <a:rPr lang="fr-FR" dirty="0"/>
              <a:t>	</a:t>
            </a:r>
            <a:r>
              <a:rPr lang="fr-FR" dirty="0" smtClean="0"/>
              <a:t>Instructions</a:t>
            </a:r>
            <a:endParaRPr lang="fr-FR" dirty="0"/>
          </a:p>
          <a:p>
            <a:pPr>
              <a:spcAft>
                <a:spcPts val="0"/>
              </a:spcAft>
            </a:pP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 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7333" y="2348513"/>
            <a:ext cx="56748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fr-FR" dirty="0" smtClean="0"/>
              <a:t>Bloc </a:t>
            </a:r>
            <a:r>
              <a:rPr lang="fr-FR" dirty="0"/>
              <a:t>exécuté selon </a:t>
            </a:r>
            <a:r>
              <a:rPr lang="fr-FR" dirty="0" smtClean="0"/>
              <a:t>la véracité </a:t>
            </a:r>
            <a:r>
              <a:rPr lang="fr-FR" dirty="0"/>
              <a:t>de l'expression </a:t>
            </a:r>
            <a:r>
              <a:rPr lang="fr-FR" dirty="0" smtClean="0"/>
              <a:t>logique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4902404" y="5611399"/>
            <a:ext cx="2111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fr-FR" dirty="0" smtClean="0"/>
              <a:t>Conditions multiples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4902404" y="3979956"/>
            <a:ext cx="246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fr-FR" dirty="0" smtClean="0"/>
              <a:t>Imbriquer les conditions</a:t>
            </a:r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7818992" y="3369839"/>
            <a:ext cx="3876143" cy="1754326"/>
          </a:xfrm>
          <a:prstGeom prst="rect">
            <a:avLst/>
          </a:prstGeom>
          <a:ln w="19050">
            <a:solidFill>
              <a:srgbClr val="45437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</a:t>
            </a:r>
          </a:p>
          <a:p>
            <a:pPr>
              <a:spcAft>
                <a:spcPts val="0"/>
              </a:spcAft>
            </a:pPr>
            <a:r>
              <a:rPr lang="fr-FR" dirty="0"/>
              <a:t>	I</a:t>
            </a:r>
            <a:r>
              <a:rPr lang="fr-FR" dirty="0" smtClean="0"/>
              <a:t>nstructions</a:t>
            </a:r>
          </a:p>
          <a:p>
            <a:pPr>
              <a:spcAft>
                <a:spcPts val="0"/>
              </a:spcAft>
            </a:pPr>
            <a:r>
              <a:rPr lang="fr-FR" dirty="0"/>
              <a:t>	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</a:t>
            </a:r>
          </a:p>
          <a:p>
            <a:pPr>
              <a:spcAft>
                <a:spcPts val="0"/>
              </a:spcAft>
            </a:pPr>
            <a:r>
              <a:rPr lang="fr-FR" dirty="0" smtClean="0"/>
              <a:t>		</a:t>
            </a:r>
            <a:r>
              <a:rPr lang="fr-FR" dirty="0"/>
              <a:t>I</a:t>
            </a:r>
            <a:r>
              <a:rPr lang="fr-FR" dirty="0" smtClean="0"/>
              <a:t>nstructions</a:t>
            </a:r>
            <a:endParaRPr lang="fr-FR" dirty="0"/>
          </a:p>
          <a:p>
            <a:pPr>
              <a:spcAft>
                <a:spcPts val="0"/>
              </a:spcAft>
            </a:pPr>
            <a:r>
              <a:rPr lang="fr-FR" dirty="0"/>
              <a:t>	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 si</a:t>
            </a:r>
          </a:p>
          <a:p>
            <a:pPr>
              <a:spcAft>
                <a:spcPts val="0"/>
              </a:spcAft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 si</a:t>
            </a:r>
            <a:endPara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9189" y="5011340"/>
            <a:ext cx="3487271" cy="1477328"/>
          </a:xfrm>
          <a:prstGeom prst="rect">
            <a:avLst/>
          </a:prstGeom>
          <a:ln w="19050">
            <a:solidFill>
              <a:srgbClr val="45437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Selon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 </a:t>
            </a:r>
            <a:r>
              <a:rPr lang="fr-FR" dirty="0" smtClean="0"/>
              <a:t>&lt;identificateur comparé à&gt;</a:t>
            </a:r>
          </a:p>
          <a:p>
            <a:pPr lvl="1"/>
            <a:r>
              <a:rPr lang="fr-FR" dirty="0" smtClean="0"/>
              <a:t>&lt;valeur1&gt; </a:t>
            </a:r>
            <a:r>
              <a:rPr lang="fr-FR" dirty="0"/>
              <a:t>: I</a:t>
            </a:r>
            <a:r>
              <a:rPr lang="fr-FR" dirty="0" smtClean="0"/>
              <a:t>nstructions</a:t>
            </a:r>
          </a:p>
          <a:p>
            <a:pPr lvl="1"/>
            <a:r>
              <a:rPr lang="fr-FR" dirty="0" smtClean="0"/>
              <a:t>&lt;valeur2&gt; </a:t>
            </a:r>
            <a:r>
              <a:rPr lang="fr-FR" dirty="0"/>
              <a:t>: I</a:t>
            </a:r>
            <a:r>
              <a:rPr lang="fr-FR" dirty="0" smtClean="0"/>
              <a:t>nstructions</a:t>
            </a:r>
          </a:p>
          <a:p>
            <a:pPr lvl="1"/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Sinon </a:t>
            </a:r>
            <a:r>
              <a:rPr lang="fr-FR" dirty="0"/>
              <a:t>: </a:t>
            </a:r>
            <a:r>
              <a:rPr lang="fr-FR" dirty="0" smtClean="0"/>
              <a:t>instructions</a:t>
            </a:r>
          </a:p>
          <a:p>
            <a:pPr>
              <a:spcAft>
                <a:spcPts val="0"/>
              </a:spcAft>
            </a:pP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 si</a:t>
            </a:r>
            <a:endPara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46996" y="1431257"/>
            <a:ext cx="4973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25A39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alternative ou instruction conditionnelle</a:t>
            </a:r>
            <a:endParaRPr lang="fr-FR" b="1" dirty="0">
              <a:solidFill>
                <a:srgbClr val="25A39B"/>
              </a:solidFill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1663917" y="2158249"/>
            <a:ext cx="1204789" cy="24280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1663916" y="2701624"/>
            <a:ext cx="1204789" cy="24280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6" name="Accolade fermante 15"/>
          <p:cNvSpPr/>
          <p:nvPr/>
        </p:nvSpPr>
        <p:spPr>
          <a:xfrm>
            <a:off x="2868705" y="2158249"/>
            <a:ext cx="1828628" cy="786183"/>
          </a:xfrm>
          <a:prstGeom prst="rightBrace">
            <a:avLst/>
          </a:prstGeom>
          <a:ln>
            <a:solidFill>
              <a:srgbClr val="FEC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à coins arrondis 29"/>
          <p:cNvSpPr/>
          <p:nvPr/>
        </p:nvSpPr>
        <p:spPr>
          <a:xfrm>
            <a:off x="1204956" y="5368084"/>
            <a:ext cx="1061354" cy="24280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31" name="Rectangle à coins arrondis 30"/>
          <p:cNvSpPr/>
          <p:nvPr/>
        </p:nvSpPr>
        <p:spPr>
          <a:xfrm>
            <a:off x="1204956" y="5628600"/>
            <a:ext cx="1061354" cy="24280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62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8" grpId="0"/>
      <p:bldP spid="9" grpId="0"/>
      <p:bldP spid="11" grpId="0" animBg="1"/>
      <p:bldP spid="12" grpId="0" animBg="1"/>
      <p:bldP spid="23" grpId="0" animBg="1"/>
      <p:bldP spid="25" grpId="0" animBg="1"/>
      <p:bldP spid="16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40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Organigramme / Logigramme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37215" y="1441317"/>
            <a:ext cx="3043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répétitive ou boucle</a:t>
            </a:r>
            <a:endParaRPr lang="fr-FR" b="1" dirty="0">
              <a:solidFill>
                <a:srgbClr val="25A39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92196" y="1810649"/>
            <a:ext cx="6007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répétition d'une suite d'instructions un certain nombre de fois</a:t>
            </a:r>
            <a:endParaRPr lang="fr-FR" dirty="0"/>
          </a:p>
        </p:txBody>
      </p:sp>
      <p:sp>
        <p:nvSpPr>
          <p:cNvPr id="18" name="Rectangle 17"/>
          <p:cNvSpPr/>
          <p:nvPr/>
        </p:nvSpPr>
        <p:spPr>
          <a:xfrm>
            <a:off x="323031" y="2783082"/>
            <a:ext cx="4350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Nombre d'itérations connu : boucle </a:t>
            </a:r>
            <a:r>
              <a:rPr lang="fr-FR" b="1" dirty="0" smtClean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pour</a:t>
            </a:r>
            <a:endParaRPr lang="fr-FR" sz="2000" b="1" dirty="0">
              <a:solidFill>
                <a:srgbClr val="45437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3031" y="4494180"/>
            <a:ext cx="42141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Pour &lt;variable&gt; de </a:t>
            </a:r>
            <a:r>
              <a:rPr lang="fr-FR" dirty="0" err="1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valinit</a:t>
            </a: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à </a:t>
            </a:r>
            <a:r>
              <a:rPr lang="fr-FR" dirty="0" err="1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valfin</a:t>
            </a: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[par pas] </a:t>
            </a: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Faire</a:t>
            </a:r>
            <a:endParaRPr lang="fr-FR" sz="2000" dirty="0">
              <a:solidFill>
                <a:srgbClr val="45437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>
              <a:spcAft>
                <a:spcPts val="0"/>
              </a:spcAft>
            </a:pP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Traitement</a:t>
            </a:r>
            <a:endParaRPr lang="fr-FR" sz="2000" dirty="0">
              <a:solidFill>
                <a:srgbClr val="45437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Fin pour</a:t>
            </a:r>
            <a:endParaRPr lang="fr-FR" sz="2000" dirty="0">
              <a:solidFill>
                <a:srgbClr val="45437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7808" y="3218040"/>
            <a:ext cx="4809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Initialise un compteur</a:t>
            </a:r>
            <a:endParaRPr lang="fr-F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Incrémente le compteur à chaque pas</a:t>
            </a:r>
            <a:endParaRPr lang="fr-F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Vérifie que le compteur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</a:rPr>
              <a:t>&lt; la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borne supérieure</a:t>
            </a:r>
            <a:endParaRPr lang="fr-FR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9" y="1438737"/>
            <a:ext cx="2349952" cy="140997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142913" y="2391735"/>
            <a:ext cx="4941353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d'itérations </a:t>
            </a: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inconnu : boucle </a:t>
            </a:r>
            <a:r>
              <a:rPr lang="fr-FR" b="1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tant que</a:t>
            </a: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dirty="0">
              <a:solidFill>
                <a:srgbClr val="454376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82233" y="2826693"/>
            <a:ext cx="5093676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Initialiser un compteur {amorçage} </a:t>
            </a:r>
          </a:p>
          <a:p>
            <a:pPr marL="285750" lvl="0" indent="-28575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Incrémenter le compteur à chaque pas {relance} </a:t>
            </a: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Vérifier que le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compteur &lt; la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borne supérieure {test de boucle}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2913" y="4299597"/>
            <a:ext cx="460076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Tant que &lt;expression logique (</a:t>
            </a: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vraie)&gt;</a:t>
            </a:r>
          </a:p>
          <a:p>
            <a:pPr algn="just">
              <a:spcAft>
                <a:spcPts val="800"/>
              </a:spcAft>
            </a:pP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Faire</a:t>
            </a:r>
          </a:p>
          <a:p>
            <a:pPr algn="just">
              <a:spcAft>
                <a:spcPts val="800"/>
              </a:spcAft>
            </a:pP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dirty="0" smtClean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Traitement </a:t>
            </a:r>
            <a:endParaRPr lang="fr-FR" dirty="0">
              <a:solidFill>
                <a:srgbClr val="454376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fr-FR" dirty="0">
                <a:solidFill>
                  <a:srgbClr val="45437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Relance 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5978769" y="2312377"/>
            <a:ext cx="0" cy="4043973"/>
          </a:xfrm>
          <a:prstGeom prst="line">
            <a:avLst/>
          </a:prstGeom>
          <a:ln w="28575">
            <a:solidFill>
              <a:srgbClr val="25A3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880" y="3943016"/>
            <a:ext cx="1702772" cy="12025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000" b="98500" l="625" r="98125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35530" y="4923884"/>
            <a:ext cx="1897471" cy="1185919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416701" y="5967654"/>
            <a:ext cx="3667564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b="1" dirty="0">
                <a:solidFill>
                  <a:srgbClr val="C3121E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L’arrêt</a:t>
            </a:r>
            <a:r>
              <a:rPr lang="fr-FR" dirty="0">
                <a:solidFill>
                  <a:srgbClr val="C3121E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la boucle </a:t>
            </a:r>
            <a:r>
              <a:rPr lang="fr-FR" dirty="0" smtClean="0">
                <a:solidFill>
                  <a:srgbClr val="C3121E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doit être </a:t>
            </a:r>
            <a:r>
              <a:rPr lang="fr-FR" b="1" dirty="0">
                <a:solidFill>
                  <a:srgbClr val="C3121E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maitrisé</a:t>
            </a:r>
            <a:r>
              <a:rPr lang="fr-FR" dirty="0">
                <a:solidFill>
                  <a:srgbClr val="C3121E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1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6" grpId="0"/>
      <p:bldP spid="27" grpId="0"/>
      <p:bldP spid="28" grpId="0"/>
      <p:bldP spid="3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41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65701" y="324503"/>
            <a:ext cx="5186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Rédaction d’un algorithme</a:t>
            </a: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Organigramme / Logigramme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53911" y="2470156"/>
            <a:ext cx="50101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Exercice</a:t>
            </a:r>
          </a:p>
          <a:p>
            <a:pPr algn="ctr"/>
            <a:endParaRPr lang="fr-FR" b="1" dirty="0" smtClean="0">
              <a:solidFill>
                <a:srgbClr val="25A39B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Reprenez l’exemple de la suite de nombres</a:t>
            </a:r>
          </a:p>
          <a:p>
            <a:pPr algn="ctr"/>
            <a:endParaRPr lang="fr-FR" b="1" dirty="0" smtClean="0">
              <a:solidFill>
                <a:srgbClr val="25A39B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Déterminez un algorithme sous forme de pseudocode ou d’organigramme qui permet de trouver le maximum</a:t>
            </a:r>
          </a:p>
        </p:txBody>
      </p:sp>
    </p:spTree>
    <p:extLst>
      <p:ext uri="{BB962C8B-B14F-4D97-AF65-F5344CB8AC3E}">
        <p14:creationId xmlns:p14="http://schemas.microsoft.com/office/powerpoint/2010/main" val="15235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42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019458" y="324503"/>
            <a:ext cx="6153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	Fondamentaux de l’algorithmique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4.1. Concepts à retenir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71793" y="1549463"/>
            <a:ext cx="24776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Calculabilité</a:t>
            </a:r>
          </a:p>
          <a:p>
            <a:pPr algn="ctr"/>
            <a:r>
              <a:rPr lang="fr-FR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Faisabilité de l’action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5142" y="2470156"/>
            <a:ext cx="703091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/>
              <a:t>Savoir si un algorithme </a:t>
            </a:r>
            <a:r>
              <a:rPr lang="fr-FR" b="1" dirty="0"/>
              <a:t>peut</a:t>
            </a:r>
            <a:r>
              <a:rPr lang="fr-FR" dirty="0"/>
              <a:t> résoudre un problème donné, indépendamment du temps et de l'espace nécessaires pour l'exécution de l'algorithme. </a:t>
            </a:r>
            <a:endParaRPr lang="fr-FR" dirty="0" smtClean="0"/>
          </a:p>
          <a:p>
            <a:pPr algn="ctr"/>
            <a:endParaRPr lang="fr-FR" dirty="0"/>
          </a:p>
          <a:p>
            <a:pPr algn="ctr"/>
            <a:r>
              <a:rPr lang="fr-FR" i="1" dirty="0" smtClean="0"/>
              <a:t>Exemple</a:t>
            </a:r>
            <a:endParaRPr lang="fr-FR" i="1" dirty="0"/>
          </a:p>
          <a:p>
            <a:pPr algn="ctr"/>
            <a:r>
              <a:rPr lang="fr-FR" i="1" dirty="0"/>
              <a:t>Le problème de la prédiction des résultats sportifs </a:t>
            </a:r>
            <a:r>
              <a:rPr lang="fr-FR" i="1" dirty="0" smtClean="0"/>
              <a:t>: </a:t>
            </a:r>
          </a:p>
          <a:p>
            <a:pPr algn="ctr"/>
            <a:r>
              <a:rPr lang="fr-FR" i="1" dirty="0" smtClean="0"/>
              <a:t>trop de facteurs influencent le résultat, et sans logique</a:t>
            </a:r>
          </a:p>
          <a:p>
            <a:pPr algn="ctr"/>
            <a:endParaRPr lang="fr-FR" i="1" dirty="0" smtClean="0"/>
          </a:p>
          <a:p>
            <a:pPr algn="ctr"/>
            <a:r>
              <a:rPr lang="fr-FR" i="1" dirty="0" smtClean="0"/>
              <a:t>Pas de </a:t>
            </a:r>
            <a:r>
              <a:rPr lang="fr-FR" i="1" dirty="0"/>
              <a:t>solution algorithmique pour ce </a:t>
            </a:r>
            <a:r>
              <a:rPr lang="fr-FR" i="1" dirty="0" smtClean="0"/>
              <a:t>problème</a:t>
            </a:r>
          </a:p>
          <a:p>
            <a:pPr algn="ctr"/>
            <a:endParaRPr lang="fr-FR" dirty="0"/>
          </a:p>
          <a:p>
            <a:pPr algn="ctr"/>
            <a:r>
              <a:rPr lang="fr-FR" b="1" dirty="0"/>
              <a:t>Importance de la calculabilité : </a:t>
            </a:r>
            <a:r>
              <a:rPr lang="fr-FR" dirty="0"/>
              <a:t>garantie de la résolution d'un problème 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0" y="1549463"/>
            <a:ext cx="4939205" cy="493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5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43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019458" y="324503"/>
            <a:ext cx="6153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	Fondamentaux de l’algorithmique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4.1. Concepts à retenir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71793" y="1549463"/>
            <a:ext cx="24776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Complexité</a:t>
            </a:r>
          </a:p>
          <a:p>
            <a:pPr algn="ctr"/>
            <a:r>
              <a:rPr lang="fr-FR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Temps et espace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5142" y="2470156"/>
            <a:ext cx="70309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/>
              <a:t>Savoir combien de temps et d'espace sont </a:t>
            </a:r>
            <a:r>
              <a:rPr lang="fr-FR" b="1" dirty="0"/>
              <a:t>nécessaires</a:t>
            </a:r>
            <a:r>
              <a:rPr lang="fr-FR" dirty="0"/>
              <a:t> pour résoudre un problème donné à l'aide d'un algorithme donné. </a:t>
            </a:r>
            <a:endParaRPr lang="fr-FR" dirty="0" smtClean="0"/>
          </a:p>
          <a:p>
            <a:pPr algn="ctr"/>
            <a:endParaRPr lang="fr-FR" dirty="0"/>
          </a:p>
          <a:p>
            <a:pPr algn="ctr"/>
            <a:r>
              <a:rPr lang="fr-FR" i="1" dirty="0"/>
              <a:t>Exemple</a:t>
            </a:r>
          </a:p>
          <a:p>
            <a:pPr algn="ctr"/>
            <a:r>
              <a:rPr lang="fr-FR" i="1" dirty="0"/>
              <a:t>Le problème du tri des cartes : il est impossible de trier un jeu de cartes de manière efficace, car la complexité algorithmique de ce problème est trop élevée. </a:t>
            </a:r>
            <a:endParaRPr lang="fr-FR" i="1" dirty="0" smtClean="0"/>
          </a:p>
          <a:p>
            <a:pPr algn="ctr"/>
            <a:endParaRPr lang="fr-FR" i="1" dirty="0" smtClean="0"/>
          </a:p>
          <a:p>
            <a:pPr algn="ctr"/>
            <a:r>
              <a:rPr lang="fr-FR" i="1" dirty="0" smtClean="0"/>
              <a:t>Impossible de créer un algorithme.</a:t>
            </a:r>
            <a:endParaRPr lang="fr-FR" i="1" dirty="0"/>
          </a:p>
          <a:p>
            <a:pPr algn="ctr"/>
            <a:endParaRPr lang="fr-FR" dirty="0"/>
          </a:p>
          <a:p>
            <a:pPr algn="ctr"/>
            <a:r>
              <a:rPr lang="fr-FR" b="1" dirty="0"/>
              <a:t>Importance de la complexité algorithmique : </a:t>
            </a:r>
            <a:r>
              <a:rPr lang="fr-FR" dirty="0"/>
              <a:t>choix d'un algorithme adapté en fonction des contraintes de temps et </a:t>
            </a:r>
            <a:r>
              <a:rPr lang="fr-FR" dirty="0" smtClean="0"/>
              <a:t>d'espace. 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30" y="1492265"/>
            <a:ext cx="4901467" cy="490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2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44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019458" y="324503"/>
            <a:ext cx="6153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	Fondamentaux de l’algorithmique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4.1. Concepts à retenir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71591" y="1544038"/>
            <a:ext cx="28780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Correction</a:t>
            </a:r>
          </a:p>
          <a:p>
            <a:pPr algn="ctr"/>
            <a:r>
              <a:rPr lang="fr-FR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Bien répondre au problème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21187" y="2492859"/>
            <a:ext cx="637882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 smtClean="0"/>
              <a:t>Plusieurs vérifications :</a:t>
            </a:r>
          </a:p>
          <a:p>
            <a:pPr algn="ctr"/>
            <a:endParaRPr lang="fr-FR" dirty="0" smtClean="0"/>
          </a:p>
          <a:p>
            <a:pPr algn="ctr"/>
            <a:r>
              <a:rPr lang="fr-FR" i="1" dirty="0" smtClean="0"/>
              <a:t>Preuve </a:t>
            </a:r>
            <a:r>
              <a:rPr lang="fr-FR" i="1" dirty="0"/>
              <a:t>formelle : une preuve </a:t>
            </a:r>
            <a:r>
              <a:rPr lang="fr-FR" i="1" dirty="0" smtClean="0"/>
              <a:t>mathématique</a:t>
            </a:r>
            <a:endParaRPr lang="fr-FR" i="1" dirty="0"/>
          </a:p>
          <a:p>
            <a:pPr algn="ctr"/>
            <a:r>
              <a:rPr lang="fr-FR" i="1" dirty="0" smtClean="0"/>
              <a:t>Tests </a:t>
            </a:r>
            <a:r>
              <a:rPr lang="fr-FR" i="1" dirty="0"/>
              <a:t>unitaires : </a:t>
            </a:r>
            <a:r>
              <a:rPr lang="fr-FR" i="1" dirty="0" smtClean="0"/>
              <a:t>effectués </a:t>
            </a:r>
            <a:r>
              <a:rPr lang="fr-FR" i="1" dirty="0"/>
              <a:t>pour vérifier que l'algorithme </a:t>
            </a:r>
            <a:r>
              <a:rPr lang="fr-FR" i="1" dirty="0" smtClean="0"/>
              <a:t>fonctionne dans </a:t>
            </a:r>
            <a:r>
              <a:rPr lang="fr-FR" i="1" dirty="0"/>
              <a:t>tous les cas.</a:t>
            </a:r>
          </a:p>
          <a:p>
            <a:pPr algn="ctr"/>
            <a:r>
              <a:rPr lang="fr-FR" i="1" dirty="0" smtClean="0"/>
              <a:t>Analyse </a:t>
            </a:r>
            <a:r>
              <a:rPr lang="fr-FR" i="1" dirty="0"/>
              <a:t>de code : </a:t>
            </a:r>
            <a:r>
              <a:rPr lang="fr-FR" i="1" dirty="0" smtClean="0"/>
              <a:t>algorithme correctement implémenté, sans erreurs </a:t>
            </a:r>
            <a:r>
              <a:rPr lang="fr-FR" i="1" dirty="0"/>
              <a:t>ou </a:t>
            </a:r>
            <a:r>
              <a:rPr lang="fr-FR" i="1" dirty="0" smtClean="0"/>
              <a:t>bogues</a:t>
            </a:r>
            <a:r>
              <a:rPr lang="fr-FR" i="1" dirty="0"/>
              <a:t>.</a:t>
            </a:r>
          </a:p>
          <a:p>
            <a:pPr algn="ctr"/>
            <a:r>
              <a:rPr lang="fr-FR" i="1" dirty="0" smtClean="0"/>
              <a:t>Revue </a:t>
            </a:r>
            <a:r>
              <a:rPr lang="fr-FR" i="1" dirty="0"/>
              <a:t>de code : </a:t>
            </a:r>
            <a:r>
              <a:rPr lang="fr-FR" i="1" dirty="0" smtClean="0"/>
              <a:t>par </a:t>
            </a:r>
            <a:r>
              <a:rPr lang="fr-FR" i="1" dirty="0"/>
              <a:t>d'autres développeurs </a:t>
            </a:r>
            <a:r>
              <a:rPr lang="fr-FR" i="1" dirty="0" smtClean="0"/>
              <a:t>pour avoir une vue extérieure</a:t>
            </a:r>
          </a:p>
          <a:p>
            <a:pPr algn="ctr"/>
            <a:endParaRPr lang="fr-FR" dirty="0"/>
          </a:p>
          <a:p>
            <a:pPr algn="ctr"/>
            <a:r>
              <a:rPr lang="fr-FR" b="1" dirty="0"/>
              <a:t>Importance de la correction : </a:t>
            </a:r>
            <a:r>
              <a:rPr lang="fr-FR" dirty="0"/>
              <a:t>garantie de la validité de la solution fournie par l'algorithme. </a:t>
            </a:r>
          </a:p>
          <a:p>
            <a:pPr algn="ctr"/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9820"/>
            <a:ext cx="5282843" cy="237981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4" y="3775418"/>
            <a:ext cx="4007094" cy="266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45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019458" y="324503"/>
            <a:ext cx="6153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	Fondamentaux de l’algorithmique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4.2. Algorithme finalement ?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47746" y="1552831"/>
            <a:ext cx="42378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fr-FR" b="1" baseline="30000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ème</a:t>
            </a:r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et dernière tentative de définition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1922163"/>
            <a:ext cx="59626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7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46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019458" y="324503"/>
            <a:ext cx="6153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	Fondamentaux de l’algorithmique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4.2. Algorithme finalement ?</a:t>
            </a:r>
            <a:endParaRPr lang="fr-FR" sz="20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47746" y="1552831"/>
            <a:ext cx="42378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fr-FR" b="1" baseline="30000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ème</a:t>
            </a:r>
            <a:r>
              <a:rPr lang="fr-FR" b="1" dirty="0" smtClean="0">
                <a:solidFill>
                  <a:srgbClr val="25A39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et dernière tentative de définition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43" y="1942427"/>
            <a:ext cx="7734406" cy="2246769"/>
          </a:xfrm>
          <a:prstGeom prst="rect">
            <a:avLst/>
          </a:prstGeom>
          <a:ln w="28575">
            <a:solidFill>
              <a:srgbClr val="FECC2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Définition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n°3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mise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place d’une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suite d’instructions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obtenir un </a:t>
            </a:r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résultat</a:t>
            </a: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plupart du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temps,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 sert à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un problème en </a:t>
            </a:r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</a:t>
            </a:r>
          </a:p>
          <a:p>
            <a:pPr algn="ctr"/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méthode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abstraite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générale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atteindre un objectif spécifique, 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 peut être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implémentée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différents langages de programmation ou même à la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endParaRPr lang="fr-FR" sz="2000" dirty="0"/>
          </a:p>
        </p:txBody>
      </p:sp>
      <p:sp>
        <p:nvSpPr>
          <p:cNvPr id="6" name="Rectangle 5"/>
          <p:cNvSpPr/>
          <p:nvPr/>
        </p:nvSpPr>
        <p:spPr>
          <a:xfrm>
            <a:off x="5446896" y="3771026"/>
            <a:ext cx="6096000" cy="2585323"/>
          </a:xfrm>
          <a:prstGeom prst="rect">
            <a:avLst/>
          </a:prstGeom>
          <a:solidFill>
            <a:schemeClr val="bg1"/>
          </a:solidFill>
          <a:ln w="28575">
            <a:solidFill>
              <a:srgbClr val="FECC28"/>
            </a:solidFill>
          </a:ln>
        </p:spPr>
        <p:txBody>
          <a:bodyPr>
            <a:spAutoFit/>
          </a:bodyPr>
          <a:lstStyle/>
          <a:p>
            <a:pPr algn="ctr"/>
            <a:r>
              <a:rPr lang="fr-FR" dirty="0"/>
              <a:t>Rédigé dans un </a:t>
            </a:r>
            <a:r>
              <a:rPr lang="fr-FR" b="1" dirty="0"/>
              <a:t>langage universel</a:t>
            </a:r>
            <a:r>
              <a:rPr lang="fr-FR" dirty="0"/>
              <a:t>, parlé par l'humain/utilisateur </a:t>
            </a:r>
          </a:p>
          <a:p>
            <a:pPr algn="ctr"/>
            <a:r>
              <a:rPr lang="fr-FR" dirty="0"/>
              <a:t>Respect de la </a:t>
            </a:r>
            <a:r>
              <a:rPr lang="fr-FR" b="1" dirty="0"/>
              <a:t>structure</a:t>
            </a:r>
            <a:r>
              <a:rPr lang="fr-FR" dirty="0"/>
              <a:t> et de la </a:t>
            </a:r>
            <a:r>
              <a:rPr lang="fr-FR" b="1" dirty="0" smtClean="0"/>
              <a:t>chronologie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Prend des données en </a:t>
            </a:r>
            <a:r>
              <a:rPr lang="fr-FR" b="1" dirty="0"/>
              <a:t>entrée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Exprime un </a:t>
            </a:r>
            <a:r>
              <a:rPr lang="fr-FR" b="1" dirty="0"/>
              <a:t>traitement</a:t>
            </a:r>
            <a:r>
              <a:rPr lang="fr-FR" dirty="0"/>
              <a:t> particulier </a:t>
            </a:r>
          </a:p>
          <a:p>
            <a:pPr algn="ctr"/>
            <a:r>
              <a:rPr lang="fr-FR" b="1" dirty="0"/>
              <a:t>Fournit</a:t>
            </a:r>
            <a:r>
              <a:rPr lang="fr-FR" dirty="0"/>
              <a:t> des données en </a:t>
            </a:r>
            <a:r>
              <a:rPr lang="fr-FR" dirty="0" smtClean="0"/>
              <a:t>sortie</a:t>
            </a:r>
          </a:p>
          <a:p>
            <a:pPr algn="ctr"/>
            <a:endParaRPr lang="fr-FR" dirty="0"/>
          </a:p>
          <a:p>
            <a:pPr algn="ctr"/>
            <a:r>
              <a:rPr lang="fr-FR" dirty="0" smtClean="0"/>
              <a:t>Succession </a:t>
            </a:r>
            <a:r>
              <a:rPr lang="fr-FR" b="1" dirty="0"/>
              <a:t>finie</a:t>
            </a:r>
            <a:r>
              <a:rPr lang="fr-FR" dirty="0"/>
              <a:t> et non ambigüe </a:t>
            </a:r>
            <a:r>
              <a:rPr lang="fr-FR" dirty="0" smtClean="0"/>
              <a:t>d'opérations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717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87" y="-16083"/>
            <a:ext cx="1374698" cy="15121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l="8298" t="10409" r="11163" b="7831"/>
          <a:stretch/>
        </p:blipFill>
        <p:spPr>
          <a:xfrm>
            <a:off x="668216" y="1978270"/>
            <a:ext cx="2901462" cy="294542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ZoneTexte 10"/>
          <p:cNvSpPr txBox="1"/>
          <p:nvPr/>
        </p:nvSpPr>
        <p:spPr>
          <a:xfrm>
            <a:off x="4106007" y="1594841"/>
            <a:ext cx="70963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Formation Python</a:t>
            </a:r>
          </a:p>
          <a:p>
            <a:pPr algn="ctr"/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1 : Introduction à </a:t>
            </a:r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l’algorithmique</a:t>
            </a:r>
          </a:p>
          <a:p>
            <a:pPr algn="ctr"/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!</a:t>
            </a:r>
          </a:p>
          <a:p>
            <a:pPr algn="ctr"/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 questions ??</a:t>
            </a:r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258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b="1" i="1" dirty="0" smtClean="0">
            <a:ln w="18415" cmpd="sng">
              <a:solidFill>
                <a:schemeClr val="tx1"/>
              </a:solidFill>
              <a:prstDash val="solid"/>
            </a:ln>
            <a:solidFill>
              <a:schemeClr val="bg1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  <a:latin typeface="Calibri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2478</Words>
  <Application>Microsoft Office PowerPoint</Application>
  <PresentationFormat>Grand écran</PresentationFormat>
  <Paragraphs>491</Paragraphs>
  <Slides>47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Times New Roman</vt:lpstr>
      <vt:lpstr>Wingdings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Ministère des Armées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CAMPHUIS Raphaëlle Apprenti</dc:creator>
  <cp:lastModifiedBy>CAMPHUIS Raphaëlle Apprenti</cp:lastModifiedBy>
  <cp:revision>54</cp:revision>
  <dcterms:created xsi:type="dcterms:W3CDTF">2025-01-10T07:21:59Z</dcterms:created>
  <dcterms:modified xsi:type="dcterms:W3CDTF">2025-01-14T12:59:07Z</dcterms:modified>
</cp:coreProperties>
</file>