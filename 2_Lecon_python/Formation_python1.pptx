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4376"/>
    <a:srgbClr val="BAE997"/>
    <a:srgbClr val="FECC28"/>
    <a:srgbClr val="109594"/>
    <a:srgbClr val="C3121E"/>
    <a:srgbClr val="25A3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6E2E4-223C-47E3-B12C-94263E111ACE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014B6-6856-4E55-8DEB-45887CCB94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921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DD1D-59A2-47C8-93D3-210B04EFFEA0}" type="datetime1">
              <a:rPr lang="fr-FR" smtClean="0"/>
              <a:t>28/01/2025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008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69CA4-A488-450E-9DE1-1AD739328317}" type="datetime1">
              <a:rPr lang="fr-FR" smtClean="0"/>
              <a:t>28/01/2025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2978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7FA70-0913-41AF-A3EF-BC86C62CA68B}" type="datetime1">
              <a:rPr lang="fr-FR" smtClean="0"/>
              <a:t>28/01/2025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8680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4DAF-EE79-4D5F-8B07-932B14C0B7D4}" type="datetime1">
              <a:rPr lang="fr-FR" smtClean="0"/>
              <a:t>28/01/2025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042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AB16-9A55-43AF-B808-2E7C1B157703}" type="datetime1">
              <a:rPr lang="fr-FR" smtClean="0"/>
              <a:t>28/01/2025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5490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8255F-0926-49DF-9777-81AEA25F755C}" type="datetime1">
              <a:rPr lang="fr-FR" smtClean="0"/>
              <a:t>28/01/2025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189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3F49-F88F-4428-9C53-42C9CEE889A9}" type="datetime1">
              <a:rPr lang="fr-FR" smtClean="0"/>
              <a:t>28/01/2025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737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B45E0-E647-4023-A669-C6549BFF79DD}" type="datetime1">
              <a:rPr lang="fr-FR" smtClean="0"/>
              <a:t>28/01/2025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525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5A7CB-E24E-41FA-BDA1-B60EE1A44A89}" type="datetime1">
              <a:rPr lang="fr-FR" smtClean="0"/>
              <a:t>28/01/2025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583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F3B6A-EAE3-4ED9-8EBD-3494D75629E8}" type="datetime1">
              <a:rPr lang="fr-FR" smtClean="0"/>
              <a:t>28/01/2025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239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8FC00-20AD-4BDE-8914-0CA796AF4BBB}" type="datetime1">
              <a:rPr lang="fr-FR" smtClean="0"/>
              <a:t>28/01/2025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7754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1A938-3017-4465-BE20-78E2F48ACADC}" type="datetime1">
              <a:rPr lang="fr-FR" smtClean="0"/>
              <a:t>28/01/2025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1911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CE18D-1D55-40C0-B0FC-844FC842A838}" type="datetime1">
              <a:rPr lang="fr-FR" smtClean="0"/>
              <a:t>28/01/2025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5866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098E-83BD-4AD9-A1CE-2E7A31644348}" type="datetime1">
              <a:rPr lang="fr-FR" smtClean="0"/>
              <a:t>28/01/2025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20165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7618D-4C19-4163-A023-EE5D4C74506C}" type="datetime1">
              <a:rPr lang="fr-FR" smtClean="0"/>
              <a:t>28/01/2025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3856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53A1-AD58-46A8-AD38-9F6A92FDAA5F}" type="datetime1">
              <a:rPr lang="fr-FR" smtClean="0"/>
              <a:t>28/01/2025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3152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832B-D05D-48C2-ADB0-B5E8DE7235B1}" type="datetime1">
              <a:rPr lang="fr-FR" smtClean="0"/>
              <a:t>28/01/2025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17150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68B6-852A-4A41-B6F3-0A5935272389}" type="datetime1">
              <a:rPr lang="fr-FR" smtClean="0"/>
              <a:t>28/01/2025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608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A519C-F41C-4D78-BBDF-E27BCDBDBF59}" type="datetime1">
              <a:rPr lang="fr-FR" smtClean="0"/>
              <a:t>28/01/2025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48160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8811-5498-424E-A9D3-E01265EB8756}" type="datetime1">
              <a:rPr lang="fr-FR" smtClean="0"/>
              <a:t>28/01/2025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30667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20F42-7752-4DAE-8E0F-C723FF1A98A7}" type="datetime1">
              <a:rPr lang="fr-FR" smtClean="0"/>
              <a:t>28/01/2025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63481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5567E-F4F4-4FB3-9ADE-5ABEF59808FC}" type="datetime1">
              <a:rPr lang="fr-FR" smtClean="0"/>
              <a:t>28/01/2025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2523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28E4-2626-4239-8285-11FA428F1087}" type="datetime1">
              <a:rPr lang="fr-FR" smtClean="0"/>
              <a:t>28/01/2025</a:t>
            </a:fld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72F27F3-DDD0-46DB-A39E-C6CEA290919E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texte 2"/>
          <p:cNvSpPr>
            <a:spLocks noGrp="1"/>
          </p:cNvSpPr>
          <p:nvPr>
            <p:ph idx="1"/>
          </p:nvPr>
        </p:nvSpPr>
        <p:spPr>
          <a:xfrm>
            <a:off x="1093125" y="1845066"/>
            <a:ext cx="10489275" cy="4114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11517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18" Type="http://schemas.microsoft.com/office/2007/relationships/hdphoto" Target="../media/hdphoto2.wdp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20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4.jpe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686AC-3356-4BAF-A86D-E338618F7810}" type="datetime1">
              <a:rPr lang="fr-FR" smtClean="0"/>
              <a:t>28/01/2025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7BBC1-6689-456A-80B5-787CCDCDD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6572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/>
          </p:cNvPicPr>
          <p:nvPr userDrawn="1"/>
        </p:nvPicPr>
        <p:blipFill>
          <a:blip r:embed="rId1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 userDrawn="1"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4287" y="6018629"/>
            <a:ext cx="1143137" cy="839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4" descr="logo EGi light"/>
          <p:cNvPicPr>
            <a:picLocks noChangeAspect="1" noChangeArrowheads="1"/>
          </p:cNvPicPr>
          <p:nvPr userDrawn="1"/>
        </p:nvPicPr>
        <p:blipFill>
          <a:blip r:embed="rId17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46238" y="1144252"/>
            <a:ext cx="4499525" cy="4569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E21F9-989F-4C19-9F8A-B35864E63568}" type="datetime1">
              <a:rPr lang="fr-FR" smtClean="0"/>
              <a:t>28/01/2025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F7677-3247-48B2-BF3C-3D4928BDD377}" type="slidenum">
              <a:rPr lang="fr-FR" smtClean="0"/>
              <a:t>‹N°›</a:t>
            </a:fld>
            <a:endParaRPr lang="fr-FR" dirty="0"/>
          </a:p>
        </p:txBody>
      </p:sp>
      <p:pic>
        <p:nvPicPr>
          <p:cNvPr id="9" name="Image 1" descr="cid:image004.jpg@01D62E21.DC7FF4A0"/>
          <p:cNvPicPr>
            <a:picLocks noChangeAspect="1" noChangeArrowheads="1"/>
          </p:cNvPicPr>
          <p:nvPr userDrawn="1"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8" y="6132255"/>
            <a:ext cx="7715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4" y="25544"/>
            <a:ext cx="848225" cy="8609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5899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887" y="-16083"/>
            <a:ext cx="1374698" cy="15121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4"/>
          <a:srcRect l="8298" t="10409" r="11163" b="7831"/>
          <a:stretch/>
        </p:blipFill>
        <p:spPr>
          <a:xfrm>
            <a:off x="668216" y="1978270"/>
            <a:ext cx="2901462" cy="2945424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ZoneTexte 10"/>
          <p:cNvSpPr txBox="1"/>
          <p:nvPr/>
        </p:nvSpPr>
        <p:spPr>
          <a:xfrm>
            <a:off x="4106007" y="2666152"/>
            <a:ext cx="70963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Formation Python</a:t>
            </a:r>
          </a:p>
          <a:p>
            <a:pPr algn="ctr"/>
            <a:endParaRPr lang="fr-FR" sz="3200" b="1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3200" b="1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Partie 2 : Apprendre les bases de Python</a:t>
            </a:r>
            <a:endParaRPr lang="fr-FR" sz="3200" b="1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727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3"/>
          <a:srcRect l="8298" t="10409" r="11163" b="7831"/>
          <a:stretch/>
        </p:blipFill>
        <p:spPr>
          <a:xfrm>
            <a:off x="668216" y="1978270"/>
            <a:ext cx="2901462" cy="2945424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ZoneTexte 10"/>
          <p:cNvSpPr txBox="1"/>
          <p:nvPr/>
        </p:nvSpPr>
        <p:spPr>
          <a:xfrm>
            <a:off x="4106007" y="2173709"/>
            <a:ext cx="7096346" cy="25545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Sommaire</a:t>
            </a:r>
          </a:p>
          <a:p>
            <a:pPr marL="514350" indent="-514350">
              <a:buAutoNum type="arabicPeriod"/>
            </a:pPr>
            <a:r>
              <a:rPr lang="fr-FR" sz="32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Rappel d’algorithmique</a:t>
            </a:r>
          </a:p>
          <a:p>
            <a:pPr marL="514350" indent="-514350">
              <a:buAutoNum type="arabicPeriod"/>
            </a:pPr>
            <a:r>
              <a:rPr lang="fr-FR" sz="32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Prise en main de </a:t>
            </a:r>
            <a:r>
              <a:rPr lang="fr-FR" sz="3200" dirty="0" err="1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Jupyter</a:t>
            </a:r>
            <a:r>
              <a:rPr lang="fr-FR" sz="32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Notebook</a:t>
            </a:r>
          </a:p>
          <a:p>
            <a:pPr marL="514350" indent="-514350">
              <a:buAutoNum type="arabicPeriod"/>
            </a:pPr>
            <a:r>
              <a:rPr lang="fr-FR" sz="32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Apprentissage</a:t>
            </a:r>
          </a:p>
          <a:p>
            <a:pPr marL="514350" indent="-514350">
              <a:buAutoNum type="arabicPeriod"/>
            </a:pPr>
            <a:r>
              <a:rPr lang="fr-FR" sz="32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QCM</a:t>
            </a:r>
            <a:endParaRPr lang="fr-FR" sz="3200" dirty="0">
              <a:solidFill>
                <a:srgbClr val="10959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013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3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3019458" y="324503"/>
            <a:ext cx="6153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	Rappel d’algorithmique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28797" y="1544613"/>
            <a:ext cx="7734406" cy="2246769"/>
          </a:xfrm>
          <a:prstGeom prst="rect">
            <a:avLst/>
          </a:prstGeom>
          <a:solidFill>
            <a:schemeClr val="bg1"/>
          </a:solidFill>
          <a:ln w="28575">
            <a:solidFill>
              <a:srgbClr val="FECC2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Définition n°3 :</a:t>
            </a:r>
          </a:p>
          <a:p>
            <a:pPr algn="ctr"/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mise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place d’une 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suite d’instructions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obtenir un </a:t>
            </a:r>
            <a:r>
              <a:rPr lang="fr-FR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résultat</a:t>
            </a:r>
            <a:endParaRPr lang="fr-FR" sz="2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plupart du 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temps,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cela sert à 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transformer un problème en </a:t>
            </a:r>
            <a:r>
              <a:rPr lang="fr-FR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</a:t>
            </a:r>
          </a:p>
          <a:p>
            <a:pPr algn="ctr"/>
            <a:r>
              <a:rPr lang="fr-FR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méthode 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abstraite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générale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pour atteindre un objectif spécifique, </a:t>
            </a: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qui peut être 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implémentée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dans différents langages de programmation ou même à la 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endParaRPr lang="fr-FR" sz="2000" dirty="0"/>
          </a:p>
        </p:txBody>
      </p:sp>
      <p:sp>
        <p:nvSpPr>
          <p:cNvPr id="6" name="Rectangle 5"/>
          <p:cNvSpPr/>
          <p:nvPr/>
        </p:nvSpPr>
        <p:spPr>
          <a:xfrm>
            <a:off x="3048000" y="3791382"/>
            <a:ext cx="6096000" cy="2585323"/>
          </a:xfrm>
          <a:prstGeom prst="rect">
            <a:avLst/>
          </a:prstGeom>
          <a:solidFill>
            <a:schemeClr val="bg1"/>
          </a:solidFill>
          <a:ln w="28575">
            <a:solidFill>
              <a:srgbClr val="FECC28"/>
            </a:solidFill>
          </a:ln>
        </p:spPr>
        <p:txBody>
          <a:bodyPr>
            <a:spAutoFit/>
          </a:bodyPr>
          <a:lstStyle/>
          <a:p>
            <a:pPr algn="ctr"/>
            <a:r>
              <a:rPr lang="fr-FR" dirty="0"/>
              <a:t>Rédigé dans un </a:t>
            </a:r>
            <a:r>
              <a:rPr lang="fr-FR" b="1" dirty="0"/>
              <a:t>langage universel</a:t>
            </a:r>
            <a:r>
              <a:rPr lang="fr-FR" dirty="0"/>
              <a:t>, parlé par l'humain/utilisateur </a:t>
            </a:r>
          </a:p>
          <a:p>
            <a:pPr algn="ctr"/>
            <a:r>
              <a:rPr lang="fr-FR" dirty="0"/>
              <a:t>Respect de la </a:t>
            </a:r>
            <a:r>
              <a:rPr lang="fr-FR" b="1" dirty="0"/>
              <a:t>structure</a:t>
            </a:r>
            <a:r>
              <a:rPr lang="fr-FR" dirty="0"/>
              <a:t> et de la </a:t>
            </a:r>
            <a:r>
              <a:rPr lang="fr-FR" b="1" dirty="0" smtClean="0"/>
              <a:t>chronologie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Prend des données en </a:t>
            </a:r>
            <a:r>
              <a:rPr lang="fr-FR" b="1" dirty="0"/>
              <a:t>entrée</a:t>
            </a:r>
            <a:r>
              <a:rPr lang="fr-FR" dirty="0"/>
              <a:t> </a:t>
            </a:r>
          </a:p>
          <a:p>
            <a:pPr algn="ctr"/>
            <a:r>
              <a:rPr lang="fr-FR" dirty="0"/>
              <a:t>Exprime un </a:t>
            </a:r>
            <a:r>
              <a:rPr lang="fr-FR" b="1" dirty="0"/>
              <a:t>traitement</a:t>
            </a:r>
            <a:r>
              <a:rPr lang="fr-FR" dirty="0"/>
              <a:t> particulier </a:t>
            </a:r>
          </a:p>
          <a:p>
            <a:pPr algn="ctr"/>
            <a:r>
              <a:rPr lang="fr-FR" b="1" dirty="0"/>
              <a:t>Fournit</a:t>
            </a:r>
            <a:r>
              <a:rPr lang="fr-FR" dirty="0"/>
              <a:t> des données en </a:t>
            </a:r>
            <a:r>
              <a:rPr lang="fr-FR" dirty="0" smtClean="0"/>
              <a:t>sortie</a:t>
            </a:r>
          </a:p>
          <a:p>
            <a:pPr algn="ctr"/>
            <a:endParaRPr lang="fr-FR" dirty="0"/>
          </a:p>
          <a:p>
            <a:pPr algn="ctr"/>
            <a:r>
              <a:rPr lang="fr-FR" dirty="0" smtClean="0"/>
              <a:t>Succession </a:t>
            </a:r>
            <a:r>
              <a:rPr lang="fr-FR" b="1" dirty="0"/>
              <a:t>finie</a:t>
            </a:r>
            <a:r>
              <a:rPr lang="fr-FR" dirty="0"/>
              <a:t> et non ambigüe </a:t>
            </a:r>
            <a:r>
              <a:rPr lang="fr-FR" dirty="0" smtClean="0"/>
              <a:t>d'opérations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518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4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2763743" y="415061"/>
            <a:ext cx="6590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	Prise en main de </a:t>
            </a:r>
            <a:r>
              <a:rPr lang="fr-FR" sz="2800" dirty="0" err="1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Jupyter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Notebook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4"/>
          <a:srcRect l="7430" t="28927" r="33140" b="62763"/>
          <a:stretch/>
        </p:blipFill>
        <p:spPr>
          <a:xfrm>
            <a:off x="5025914" y="1635633"/>
            <a:ext cx="2066192" cy="492369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519" y="2366305"/>
            <a:ext cx="6814050" cy="3573221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905" y="2366305"/>
            <a:ext cx="7018826" cy="3573221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87" y="2252937"/>
            <a:ext cx="12005046" cy="368658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058400" y="3147646"/>
            <a:ext cx="1679331" cy="232996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058399" y="3275522"/>
            <a:ext cx="1679331" cy="220208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617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5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2763743" y="415061"/>
            <a:ext cx="6590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	Apprentissage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3720256" y="3389001"/>
            <a:ext cx="467750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 smtClean="0"/>
              <a:t>CF Formation_python1.doc</a:t>
            </a:r>
            <a:r>
              <a:rPr lang="fr-FR" dirty="0"/>
              <a:t> </a:t>
            </a:r>
            <a:r>
              <a:rPr lang="fr-FR" dirty="0" smtClean="0"/>
              <a:t>+ </a:t>
            </a:r>
            <a:r>
              <a:rPr lang="fr-FR" dirty="0" err="1" smtClean="0"/>
              <a:t>Jupyter</a:t>
            </a:r>
            <a:r>
              <a:rPr lang="fr-FR" dirty="0" smtClean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4071595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6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2763743" y="415061"/>
            <a:ext cx="6590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	Evaluation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880341" y="1671712"/>
            <a:ext cx="835733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Dans les noms proposés, lesquels respectent les règles pour déclarer une variable ?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63869" y="2321169"/>
            <a:ext cx="1015511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A) prénom	B) 1habit		C) main		D) mon nom		E) PAPA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1880341" y="3364574"/>
            <a:ext cx="835733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Quelle est la fonction qui permet d’afficher un objet python ?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1880341" y="4539577"/>
            <a:ext cx="835733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Donnez trois exemples de type de données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3648807" y="5197139"/>
            <a:ext cx="498523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entiers/</a:t>
            </a:r>
            <a:r>
              <a:rPr lang="fr-FR" dirty="0" err="1" smtClean="0"/>
              <a:t>int</a:t>
            </a:r>
            <a:r>
              <a:rPr lang="fr-FR" dirty="0" smtClean="0"/>
              <a:t>, </a:t>
            </a:r>
            <a:r>
              <a:rPr lang="fr-FR" dirty="0" err="1" smtClean="0"/>
              <a:t>float</a:t>
            </a:r>
            <a:r>
              <a:rPr lang="fr-FR" dirty="0" smtClean="0"/>
              <a:t>, chaine de caractères/</a:t>
            </a:r>
            <a:r>
              <a:rPr lang="fr-FR" dirty="0" err="1" smtClean="0"/>
              <a:t>str</a:t>
            </a:r>
            <a:r>
              <a:rPr lang="fr-FR" dirty="0" smtClean="0"/>
              <a:t>, booléens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5644127" y="3944179"/>
            <a:ext cx="8297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err="1" smtClean="0"/>
              <a:t>print</a:t>
            </a:r>
            <a:r>
              <a:rPr lang="fr-FR" dirty="0" smtClean="0"/>
              <a:t>()</a:t>
            </a:r>
            <a:endParaRPr lang="fr-FR" dirty="0"/>
          </a:p>
        </p:txBody>
      </p:sp>
      <p:sp>
        <p:nvSpPr>
          <p:cNvPr id="17" name="Rectangle 16"/>
          <p:cNvSpPr/>
          <p:nvPr/>
        </p:nvSpPr>
        <p:spPr>
          <a:xfrm>
            <a:off x="4668180" y="2336426"/>
            <a:ext cx="975947" cy="33881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261731" y="2336426"/>
            <a:ext cx="975947" cy="33881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449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6" grpId="0" animBg="1"/>
      <p:bldP spid="17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406" y="82673"/>
            <a:ext cx="1295187" cy="1314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06007" y="6488668"/>
            <a:ext cx="3906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 smtClean="0">
                <a:ln w="18415" cmpd="sng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EGI – Direction technique - 14/01/2025</a:t>
            </a:r>
            <a:endParaRPr kumimoji="0" lang="en-US" sz="1800" b="1" i="1" u="none" strike="noStrike" kern="1200" cap="none" spc="0" normalizeH="0" baseline="0" noProof="0" dirty="0">
              <a:ln w="18415" cmpd="sng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F7677-3247-48B2-BF3C-3D4928BDD377}" type="slidenum">
              <a:rPr lang="fr-FR" smtClean="0"/>
              <a:t>7</a:t>
            </a:fld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0" y="1397329"/>
            <a:ext cx="12192000" cy="0"/>
          </a:xfrm>
          <a:prstGeom prst="line">
            <a:avLst/>
          </a:prstGeom>
          <a:ln w="57150">
            <a:solidFill>
              <a:srgbClr val="25A39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l="6604" t="8559" r="9302" b="6233"/>
          <a:stretch/>
        </p:blipFill>
        <p:spPr>
          <a:xfrm>
            <a:off x="1" y="0"/>
            <a:ext cx="1335614" cy="135334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2763743" y="415061"/>
            <a:ext cx="6590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fr-FR" sz="2800" dirty="0" smtClean="0">
                <a:solidFill>
                  <a:srgbClr val="1095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	Evaluation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880341" y="1671712"/>
            <a:ext cx="835733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Quelle fonction permet de vérifier la classe d’une variable ?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5688622" y="2321169"/>
            <a:ext cx="9056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type()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1880341" y="3364574"/>
            <a:ext cx="835733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Quelles sont les bonnes syntaxes ?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1128346" y="3944179"/>
            <a:ext cx="9935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A) </a:t>
            </a:r>
            <a:r>
              <a:rPr lang="fr-FR" dirty="0"/>
              <a:t>chaine = "</a:t>
            </a:r>
            <a:r>
              <a:rPr lang="fr-FR" dirty="0" smtClean="0"/>
              <a:t>123" 	B) nombre = FLOAT("123") 	C) type(chaine) = </a:t>
            </a:r>
            <a:r>
              <a:rPr lang="fr-FR" dirty="0" err="1" smtClean="0"/>
              <a:t>str</a:t>
            </a:r>
            <a:r>
              <a:rPr lang="fr-FR" dirty="0" smtClean="0"/>
              <a:t> 	D) chiffre =  </a:t>
            </a:r>
            <a:r>
              <a:rPr lang="fr-FR" dirty="0" err="1" smtClean="0"/>
              <a:t>int</a:t>
            </a:r>
            <a:r>
              <a:rPr lang="fr-FR" dirty="0" smtClean="0"/>
              <a:t>(chaine)</a:t>
            </a:r>
            <a:endParaRPr lang="fr-FR" dirty="0"/>
          </a:p>
        </p:txBody>
      </p:sp>
      <p:sp>
        <p:nvSpPr>
          <p:cNvPr id="17" name="Rectangle 16"/>
          <p:cNvSpPr/>
          <p:nvPr/>
        </p:nvSpPr>
        <p:spPr>
          <a:xfrm>
            <a:off x="1153510" y="3974693"/>
            <a:ext cx="1747952" cy="33881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52839" y="3965192"/>
            <a:ext cx="2329567" cy="33881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fr-FR" b="1" i="1" dirty="0" smtClean="0">
              <a:ln w="18415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97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6" grpId="0" animBg="1"/>
      <p:bldP spid="17" grpId="0" animBg="1"/>
      <p:bldP spid="19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>
          <a:defRPr b="1" i="1" dirty="0" smtClean="0">
            <a:ln w="18415" cmpd="sng">
              <a:solidFill>
                <a:schemeClr val="tx1"/>
              </a:solidFill>
              <a:prstDash val="solid"/>
            </a:ln>
            <a:solidFill>
              <a:schemeClr val="bg1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  <a:latin typeface="Calibri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</TotalTime>
  <Words>303</Words>
  <Application>Microsoft Office PowerPoint</Application>
  <PresentationFormat>Grand écran</PresentationFormat>
  <Paragraphs>52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Thème Office</vt:lpstr>
      <vt:lpstr>1_Thème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Ministère des Armées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CAMPHUIS Raphaëlle Apprenti</dc:creator>
  <cp:lastModifiedBy>CAMPHUIS Raphaëlle Apprenti</cp:lastModifiedBy>
  <cp:revision>40</cp:revision>
  <dcterms:created xsi:type="dcterms:W3CDTF">2025-01-10T07:21:59Z</dcterms:created>
  <dcterms:modified xsi:type="dcterms:W3CDTF">2025-01-28T08:42:03Z</dcterms:modified>
</cp:coreProperties>
</file>