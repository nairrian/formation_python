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376"/>
    <a:srgbClr val="BAE997"/>
    <a:srgbClr val="FECC28"/>
    <a:srgbClr val="109594"/>
    <a:srgbClr val="C3121E"/>
    <a:srgbClr val="25A3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6E2E4-223C-47E3-B12C-94263E111ACE}" type="datetimeFigureOut">
              <a:rPr lang="fr-FR" smtClean="0"/>
              <a:t>23/01/2025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014B6-6856-4E55-8DEB-45887CCB94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92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DD1D-59A2-47C8-93D3-210B04EFFEA0}" type="datetime1">
              <a:rPr lang="fr-FR" smtClean="0"/>
              <a:t>23/01/2025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0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A4-A488-450E-9DE1-1AD739328317}" type="datetime1">
              <a:rPr lang="fr-FR" smtClean="0"/>
              <a:t>23/01/2025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97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7FA70-0913-41AF-A3EF-BC86C62CA68B}" type="datetime1">
              <a:rPr lang="fr-FR" smtClean="0"/>
              <a:t>23/01/2025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68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4DAF-EE79-4D5F-8B07-932B14C0B7D4}" type="datetime1">
              <a:rPr lang="fr-FR" smtClean="0"/>
              <a:t>23/01/2025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42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AB16-9A55-43AF-B808-2E7C1B157703}" type="datetime1">
              <a:rPr lang="fr-FR" smtClean="0"/>
              <a:t>23/01/2025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49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255F-0926-49DF-9777-81AEA25F755C}" type="datetime1">
              <a:rPr lang="fr-FR" smtClean="0"/>
              <a:t>23/01/2025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89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3F49-F88F-4428-9C53-42C9CEE889A9}" type="datetime1">
              <a:rPr lang="fr-FR" smtClean="0"/>
              <a:t>23/01/2025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3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5E0-E647-4023-A669-C6549BFF79DD}" type="datetime1">
              <a:rPr lang="fr-FR" smtClean="0"/>
              <a:t>23/01/2025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52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A7CB-E24E-41FA-BDA1-B60EE1A44A89}" type="datetime1">
              <a:rPr lang="fr-FR" smtClean="0"/>
              <a:t>23/01/2025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58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3B6A-EAE3-4ED9-8EBD-3494D75629E8}" type="datetime1">
              <a:rPr lang="fr-FR" smtClean="0"/>
              <a:t>23/01/2025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39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FC00-20AD-4BDE-8914-0CA796AF4BBB}" type="datetime1">
              <a:rPr lang="fr-FR" smtClean="0"/>
              <a:t>23/01/2025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7754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A938-3017-4465-BE20-78E2F48ACADC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1911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E18D-1D55-40C0-B0FC-844FC842A838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5866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098E-83BD-4AD9-A1CE-2E7A31644348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2016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7618D-4C19-4163-A023-EE5D4C74506C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3856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53A1-AD58-46A8-AD38-9F6A92FDAA5F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3152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832B-D05D-48C2-ADB0-B5E8DE7235B1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1715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68B6-852A-4A41-B6F3-0A5935272389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0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519C-F41C-4D78-BBDF-E27BCDBDBF59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4816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8811-5498-424E-A9D3-E01265EB8756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30667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20F42-7752-4DAE-8E0F-C723FF1A98A7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6348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567E-F4F4-4FB3-9ADE-5ABEF59808FC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2523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28E4-2626-4239-8285-11FA428F1087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2F27F3-DDD0-46DB-A39E-C6CEA290919E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texte 2"/>
          <p:cNvSpPr>
            <a:spLocks noGrp="1"/>
          </p:cNvSpPr>
          <p:nvPr>
            <p:ph idx="1"/>
          </p:nvPr>
        </p:nvSpPr>
        <p:spPr>
          <a:xfrm>
            <a:off x="1093125" y="1845066"/>
            <a:ext cx="10489275" cy="411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1151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8" Type="http://schemas.microsoft.com/office/2007/relationships/hdphoto" Target="../media/hdphoto2.wdp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20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686AC-3356-4BAF-A86D-E338618F7810}" type="datetime1">
              <a:rPr lang="fr-FR" smtClean="0"/>
              <a:t>23/01/2025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57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/>
          </p:cNvPicPr>
          <p:nvPr userDrawn="1"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287" y="6018629"/>
            <a:ext cx="1143137" cy="83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4" descr="logo EGi light"/>
          <p:cNvPicPr>
            <a:picLocks noChangeAspect="1" noChangeArrowheads="1"/>
          </p:cNvPicPr>
          <p:nvPr userDrawn="1"/>
        </p:nvPicPr>
        <p:blipFill>
          <a:blip r:embed="rId1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6238" y="1144252"/>
            <a:ext cx="4499525" cy="4569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21F9-989F-4C19-9F8A-B35864E63568}" type="datetime1">
              <a:rPr lang="fr-FR" smtClean="0"/>
              <a:t>23/01/2025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  <p:pic>
        <p:nvPicPr>
          <p:cNvPr id="9" name="Image 1" descr="cid:image004.jpg@01D62E21.DC7FF4A0"/>
          <p:cNvPicPr>
            <a:picLocks noChangeAspect="1" noChangeArrowheads="1"/>
          </p:cNvPicPr>
          <p:nvPr userDrawn="1"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8" y="6132255"/>
            <a:ext cx="7715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4" y="25544"/>
            <a:ext cx="848225" cy="8609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589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87" y="-16083"/>
            <a:ext cx="1374698" cy="15121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l="8298" t="10409" r="11163" b="7831"/>
          <a:stretch/>
        </p:blipFill>
        <p:spPr>
          <a:xfrm>
            <a:off x="668216" y="1978270"/>
            <a:ext cx="2901462" cy="294542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ZoneTexte 10"/>
          <p:cNvSpPr txBox="1"/>
          <p:nvPr/>
        </p:nvSpPr>
        <p:spPr>
          <a:xfrm>
            <a:off x="4106007" y="2666152"/>
            <a:ext cx="70963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Formation Python</a:t>
            </a:r>
          </a:p>
          <a:p>
            <a:pPr algn="ctr"/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</a:t>
            </a:r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Apprendre les bases de Python</a:t>
            </a:r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727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/>
          <a:srcRect l="8298" t="10409" r="11163" b="7831"/>
          <a:stretch/>
        </p:blipFill>
        <p:spPr>
          <a:xfrm>
            <a:off x="668216" y="1978270"/>
            <a:ext cx="2901462" cy="294542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ZoneTexte 10"/>
          <p:cNvSpPr txBox="1"/>
          <p:nvPr/>
        </p:nvSpPr>
        <p:spPr>
          <a:xfrm>
            <a:off x="4106007" y="2173709"/>
            <a:ext cx="7096346" cy="255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Rappel d’algorithmique</a:t>
            </a:r>
            <a:endParaRPr lang="fr-FR" sz="32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Prise en main de </a:t>
            </a:r>
            <a:r>
              <a:rPr lang="fr-FR" sz="3200" dirty="0" err="1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Jupyter</a:t>
            </a: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Notebook</a:t>
            </a:r>
            <a:endParaRPr lang="fr-FR" sz="32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Apprentissage</a:t>
            </a:r>
            <a:endParaRPr lang="fr-FR" sz="32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QCM</a:t>
            </a:r>
            <a:endParaRPr lang="fr-FR" sz="32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013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019458" y="324503"/>
            <a:ext cx="6153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Rappel d’algorithmique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28797" y="1544613"/>
            <a:ext cx="7734406" cy="2246769"/>
          </a:xfrm>
          <a:prstGeom prst="rect">
            <a:avLst/>
          </a:prstGeom>
          <a:solidFill>
            <a:schemeClr val="bg1"/>
          </a:solidFill>
          <a:ln w="28575">
            <a:solidFill>
              <a:srgbClr val="FECC2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Définition n°3 :</a:t>
            </a:r>
          </a:p>
          <a:p>
            <a:pPr algn="ctr"/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mise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place d’une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suite d’instructions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obtenir un </a:t>
            </a:r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résultat</a:t>
            </a: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plupart du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temps,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 sert à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un problème en </a:t>
            </a:r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</a:t>
            </a:r>
          </a:p>
          <a:p>
            <a:pPr algn="ctr"/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méthode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abstraite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générale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atteindre un objectif spécifique, 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 peut être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implémentée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différents langages de programmation ou même à la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endParaRPr lang="fr-FR" sz="2000" dirty="0"/>
          </a:p>
        </p:txBody>
      </p:sp>
      <p:sp>
        <p:nvSpPr>
          <p:cNvPr id="6" name="Rectangle 5"/>
          <p:cNvSpPr/>
          <p:nvPr/>
        </p:nvSpPr>
        <p:spPr>
          <a:xfrm>
            <a:off x="3048000" y="3791382"/>
            <a:ext cx="6096000" cy="2585323"/>
          </a:xfrm>
          <a:prstGeom prst="rect">
            <a:avLst/>
          </a:prstGeom>
          <a:solidFill>
            <a:schemeClr val="bg1"/>
          </a:solidFill>
          <a:ln w="28575">
            <a:solidFill>
              <a:srgbClr val="FECC28"/>
            </a:solidFill>
          </a:ln>
        </p:spPr>
        <p:txBody>
          <a:bodyPr>
            <a:spAutoFit/>
          </a:bodyPr>
          <a:lstStyle/>
          <a:p>
            <a:pPr algn="ctr"/>
            <a:r>
              <a:rPr lang="fr-FR" dirty="0"/>
              <a:t>Rédigé dans un </a:t>
            </a:r>
            <a:r>
              <a:rPr lang="fr-FR" b="1" dirty="0"/>
              <a:t>langage universel</a:t>
            </a:r>
            <a:r>
              <a:rPr lang="fr-FR" dirty="0"/>
              <a:t>, parlé par l'humain/utilisateur </a:t>
            </a:r>
          </a:p>
          <a:p>
            <a:pPr algn="ctr"/>
            <a:r>
              <a:rPr lang="fr-FR" dirty="0"/>
              <a:t>Respect de la </a:t>
            </a:r>
            <a:r>
              <a:rPr lang="fr-FR" b="1" dirty="0"/>
              <a:t>structure</a:t>
            </a:r>
            <a:r>
              <a:rPr lang="fr-FR" dirty="0"/>
              <a:t> et de la </a:t>
            </a:r>
            <a:r>
              <a:rPr lang="fr-FR" b="1" dirty="0" smtClean="0"/>
              <a:t>chronologie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Prend des données en </a:t>
            </a:r>
            <a:r>
              <a:rPr lang="fr-FR" b="1" dirty="0"/>
              <a:t>entrée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Exprime un </a:t>
            </a:r>
            <a:r>
              <a:rPr lang="fr-FR" b="1" dirty="0"/>
              <a:t>traitement</a:t>
            </a:r>
            <a:r>
              <a:rPr lang="fr-FR" dirty="0"/>
              <a:t> particulier </a:t>
            </a:r>
          </a:p>
          <a:p>
            <a:pPr algn="ctr"/>
            <a:r>
              <a:rPr lang="fr-FR" b="1" dirty="0"/>
              <a:t>Fournit</a:t>
            </a:r>
            <a:r>
              <a:rPr lang="fr-FR" dirty="0"/>
              <a:t> des données en </a:t>
            </a:r>
            <a:r>
              <a:rPr lang="fr-FR" dirty="0" smtClean="0"/>
              <a:t>sortie</a:t>
            </a:r>
          </a:p>
          <a:p>
            <a:pPr algn="ctr"/>
            <a:endParaRPr lang="fr-FR" dirty="0"/>
          </a:p>
          <a:p>
            <a:pPr algn="ctr"/>
            <a:r>
              <a:rPr lang="fr-FR" dirty="0" smtClean="0"/>
              <a:t>Succession </a:t>
            </a:r>
            <a:r>
              <a:rPr lang="fr-FR" b="1" dirty="0"/>
              <a:t>finie</a:t>
            </a:r>
            <a:r>
              <a:rPr lang="fr-FR" dirty="0"/>
              <a:t> et non ambigüe </a:t>
            </a:r>
            <a:r>
              <a:rPr lang="fr-FR" dirty="0" smtClean="0"/>
              <a:t>d'opérations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518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Prise en main de </a:t>
            </a:r>
            <a:r>
              <a:rPr lang="fr-FR" sz="2800" dirty="0" err="1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Jupyter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Notebook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4"/>
          <a:srcRect l="7430" t="28927" r="33140" b="62763"/>
          <a:stretch/>
        </p:blipFill>
        <p:spPr>
          <a:xfrm>
            <a:off x="5025914" y="1635633"/>
            <a:ext cx="2066192" cy="49236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19" y="2366305"/>
            <a:ext cx="6814050" cy="357322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905" y="2366305"/>
            <a:ext cx="7018826" cy="357322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87" y="2252937"/>
            <a:ext cx="12005046" cy="368658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058400" y="3147646"/>
            <a:ext cx="1679331" cy="232996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058399" y="3275522"/>
            <a:ext cx="1679331" cy="22020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1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5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Apprentissage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720256" y="3389001"/>
            <a:ext cx="467750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 smtClean="0"/>
              <a:t>CF Formation_python1.doc</a:t>
            </a:r>
            <a:r>
              <a:rPr lang="fr-FR" dirty="0"/>
              <a:t> </a:t>
            </a:r>
            <a:r>
              <a:rPr lang="fr-FR" dirty="0" smtClean="0"/>
              <a:t>+ </a:t>
            </a:r>
            <a:r>
              <a:rPr lang="fr-FR" dirty="0" err="1" smtClean="0"/>
              <a:t>Jupyter</a:t>
            </a:r>
            <a:r>
              <a:rPr lang="fr-FR" dirty="0" smtClean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407159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6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880341" y="1671712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Dans les noms proposés, lesquels respectent les règles pour déclarer une variable ?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63869" y="2321169"/>
            <a:ext cx="1015511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A) prénom	B) 1habit		C) main		D) mon nom		E) PAPA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1880341" y="3364574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Quelle est la fonction qui permet d’afficher un objet python ?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880341" y="4539577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Donnez trois exemples de type de données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648807" y="5197139"/>
            <a:ext cx="498523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entiers/</a:t>
            </a:r>
            <a:r>
              <a:rPr lang="fr-FR" dirty="0" err="1" smtClean="0"/>
              <a:t>int</a:t>
            </a:r>
            <a:r>
              <a:rPr lang="fr-FR" dirty="0" smtClean="0"/>
              <a:t>, </a:t>
            </a:r>
            <a:r>
              <a:rPr lang="fr-FR" dirty="0" err="1" smtClean="0"/>
              <a:t>float</a:t>
            </a:r>
            <a:r>
              <a:rPr lang="fr-FR" dirty="0" smtClean="0"/>
              <a:t>, chaine de caractères/</a:t>
            </a:r>
            <a:r>
              <a:rPr lang="fr-FR" dirty="0" err="1" smtClean="0"/>
              <a:t>str</a:t>
            </a:r>
            <a:r>
              <a:rPr lang="fr-FR" dirty="0" smtClean="0"/>
              <a:t>, booléens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5644127" y="3944179"/>
            <a:ext cx="8297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err="1" smtClean="0"/>
              <a:t>print</a:t>
            </a:r>
            <a:r>
              <a:rPr lang="fr-FR" dirty="0" smtClean="0"/>
              <a:t>()</a:t>
            </a:r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4668180" y="2336426"/>
            <a:ext cx="975947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261731" y="2336426"/>
            <a:ext cx="975947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44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7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880341" y="1671712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Quelle fonction permet de vérifier la classe d’une variable ?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688622" y="2321169"/>
            <a:ext cx="9056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type()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1880341" y="3364574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Quelles sont les bonnes syntaxes ?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128346" y="3944179"/>
            <a:ext cx="9935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A) </a:t>
            </a:r>
            <a:r>
              <a:rPr lang="fr-FR" dirty="0"/>
              <a:t>chaine = "</a:t>
            </a:r>
            <a:r>
              <a:rPr lang="fr-FR" dirty="0" smtClean="0"/>
              <a:t>123" 	B) nombre = FLOAT("123") 	C) type(chaine) = </a:t>
            </a:r>
            <a:r>
              <a:rPr lang="fr-FR" dirty="0" err="1" smtClean="0"/>
              <a:t>str</a:t>
            </a:r>
            <a:r>
              <a:rPr lang="fr-FR" dirty="0" smtClean="0"/>
              <a:t> 	D) chiffre =  </a:t>
            </a:r>
            <a:r>
              <a:rPr lang="fr-FR" dirty="0" err="1" smtClean="0"/>
              <a:t>int</a:t>
            </a:r>
            <a:r>
              <a:rPr lang="fr-FR" dirty="0" smtClean="0"/>
              <a:t>(chaine)</a:t>
            </a:r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1153510" y="3974693"/>
            <a:ext cx="1747952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2839" y="3965192"/>
            <a:ext cx="2329567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7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6" grpId="0" animBg="1"/>
      <p:bldP spid="17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8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880341" y="1671712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Lier les opérateurs à leur signe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444262" y="2252937"/>
            <a:ext cx="2187846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fr-FR" dirty="0" smtClean="0"/>
              <a:t>Addition</a:t>
            </a:r>
          </a:p>
          <a:p>
            <a:pPr algn="r"/>
            <a:endParaRPr lang="fr-FR" dirty="0"/>
          </a:p>
          <a:p>
            <a:pPr algn="r"/>
            <a:r>
              <a:rPr lang="fr-FR" dirty="0" smtClean="0"/>
              <a:t>Inégalité</a:t>
            </a:r>
          </a:p>
          <a:p>
            <a:pPr algn="r"/>
            <a:endParaRPr lang="fr-FR" dirty="0"/>
          </a:p>
          <a:p>
            <a:pPr algn="r"/>
            <a:r>
              <a:rPr lang="fr-FR" dirty="0" smtClean="0"/>
              <a:t>Appartenance</a:t>
            </a:r>
          </a:p>
          <a:p>
            <a:pPr algn="r"/>
            <a:endParaRPr lang="fr-FR" dirty="0"/>
          </a:p>
          <a:p>
            <a:pPr algn="r"/>
            <a:r>
              <a:rPr lang="fr-FR" dirty="0" smtClean="0"/>
              <a:t>Puissance</a:t>
            </a:r>
          </a:p>
          <a:p>
            <a:pPr algn="r"/>
            <a:endParaRPr lang="fr-FR" dirty="0"/>
          </a:p>
          <a:p>
            <a:pPr algn="r"/>
            <a:r>
              <a:rPr lang="fr-FR" dirty="0" smtClean="0"/>
              <a:t>Modulo</a:t>
            </a:r>
          </a:p>
          <a:p>
            <a:pPr algn="r"/>
            <a:endParaRPr lang="fr-FR" dirty="0"/>
          </a:p>
          <a:p>
            <a:pPr algn="r"/>
            <a:r>
              <a:rPr lang="fr-FR" dirty="0" smtClean="0"/>
              <a:t>Infériorité</a:t>
            </a:r>
          </a:p>
          <a:p>
            <a:pPr algn="r"/>
            <a:endParaRPr lang="fr-FR" dirty="0"/>
          </a:p>
          <a:p>
            <a:pPr algn="r"/>
            <a:r>
              <a:rPr lang="fr-FR" dirty="0" smtClean="0"/>
              <a:t>Non identité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7516677" y="2252936"/>
            <a:ext cx="2187846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**</a:t>
            </a:r>
          </a:p>
          <a:p>
            <a:endParaRPr lang="fr-FR" dirty="0"/>
          </a:p>
          <a:p>
            <a:r>
              <a:rPr lang="fr-FR" dirty="0" err="1" smtClean="0"/>
              <a:t>is</a:t>
            </a:r>
            <a:r>
              <a:rPr lang="fr-FR" dirty="0" smtClean="0"/>
              <a:t> not</a:t>
            </a:r>
          </a:p>
          <a:p>
            <a:endParaRPr lang="fr-FR" dirty="0"/>
          </a:p>
          <a:p>
            <a:r>
              <a:rPr lang="fr-FR" dirty="0" smtClean="0"/>
              <a:t>!=</a:t>
            </a:r>
          </a:p>
          <a:p>
            <a:endParaRPr lang="fr-FR" dirty="0"/>
          </a:p>
          <a:p>
            <a:r>
              <a:rPr lang="fr-FR" dirty="0" smtClean="0"/>
              <a:t>%</a:t>
            </a:r>
          </a:p>
          <a:p>
            <a:endParaRPr lang="fr-FR" dirty="0"/>
          </a:p>
          <a:p>
            <a:r>
              <a:rPr lang="fr-FR" dirty="0" smtClean="0"/>
              <a:t>in</a:t>
            </a:r>
          </a:p>
          <a:p>
            <a:endParaRPr lang="fr-FR" dirty="0"/>
          </a:p>
          <a:p>
            <a:r>
              <a:rPr lang="fr-FR" dirty="0" smtClean="0"/>
              <a:t>&lt;</a:t>
            </a:r>
          </a:p>
          <a:p>
            <a:endParaRPr lang="fr-FR" dirty="0"/>
          </a:p>
          <a:p>
            <a:r>
              <a:rPr lang="fr-FR" dirty="0" smtClean="0"/>
              <a:t>+</a:t>
            </a:r>
            <a:endParaRPr lang="fr-FR" dirty="0"/>
          </a:p>
        </p:txBody>
      </p:sp>
      <p:cxnSp>
        <p:nvCxnSpPr>
          <p:cNvPr id="12" name="Connecteur droit 11"/>
          <p:cNvCxnSpPr/>
          <p:nvPr/>
        </p:nvCxnSpPr>
        <p:spPr>
          <a:xfrm>
            <a:off x="4632108" y="2435469"/>
            <a:ext cx="2884569" cy="329711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4632107" y="2977881"/>
            <a:ext cx="2884570" cy="56541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4632107" y="3560884"/>
            <a:ext cx="2884570" cy="111485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V="1">
            <a:off x="4616724" y="2411662"/>
            <a:ext cx="2899952" cy="167236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>
            <a:endCxn id="15" idx="1"/>
          </p:cNvCxnSpPr>
          <p:nvPr/>
        </p:nvCxnSpPr>
        <p:spPr>
          <a:xfrm flipV="1">
            <a:off x="4616724" y="4099596"/>
            <a:ext cx="2899953" cy="53571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V="1">
            <a:off x="4616724" y="2994665"/>
            <a:ext cx="2899952" cy="273412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V="1">
            <a:off x="4616723" y="5173258"/>
            <a:ext cx="2899953" cy="1069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9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9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  <a:endParaRPr lang="fr-FR" sz="2800" dirty="0" smtClean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880341" y="1671712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Quelles sont les syntaxes correctes ?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880341" y="2321169"/>
            <a:ext cx="83573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A) liste = ()	B) </a:t>
            </a:r>
            <a:r>
              <a:rPr lang="fr-FR" dirty="0" err="1" smtClean="0"/>
              <a:t>tuple</a:t>
            </a:r>
            <a:r>
              <a:rPr lang="fr-FR" dirty="0" smtClean="0"/>
              <a:t> = ()	C) liste = []	D) </a:t>
            </a:r>
            <a:r>
              <a:rPr lang="fr-FR" dirty="0" err="1" smtClean="0"/>
              <a:t>tuple</a:t>
            </a:r>
            <a:r>
              <a:rPr lang="fr-FR" dirty="0" smtClean="0"/>
              <a:t> = []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1880341" y="3364574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Quels sont les indices de début et de fin d’une liste ou d’un </a:t>
            </a:r>
            <a:r>
              <a:rPr lang="fr-FR" dirty="0" err="1" smtClean="0"/>
              <a:t>tuple</a:t>
            </a:r>
            <a:r>
              <a:rPr lang="fr-FR" dirty="0" smtClean="0"/>
              <a:t> ?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317882" y="3939524"/>
            <a:ext cx="74822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A) 0 et </a:t>
            </a:r>
            <a:r>
              <a:rPr lang="fr-FR" dirty="0" err="1" smtClean="0"/>
              <a:t>len</a:t>
            </a:r>
            <a:r>
              <a:rPr lang="fr-FR" dirty="0" smtClean="0"/>
              <a:t>(liste)	B) 1 et </a:t>
            </a:r>
            <a:r>
              <a:rPr lang="fr-FR" dirty="0" err="1" smtClean="0"/>
              <a:t>len</a:t>
            </a:r>
            <a:r>
              <a:rPr lang="fr-FR" dirty="0" smtClean="0"/>
              <a:t>(liste)	C) 0 et </a:t>
            </a:r>
            <a:r>
              <a:rPr lang="fr-FR" dirty="0" err="1" smtClean="0"/>
              <a:t>len</a:t>
            </a:r>
            <a:r>
              <a:rPr lang="fr-FR" dirty="0" smtClean="0"/>
              <a:t>(liste)-1	D) 1 et </a:t>
            </a:r>
            <a:r>
              <a:rPr lang="fr-FR" dirty="0" err="1" smtClean="0"/>
              <a:t>len</a:t>
            </a:r>
            <a:r>
              <a:rPr lang="fr-FR" dirty="0" smtClean="0"/>
              <a:t>(liste)-1</a:t>
            </a:r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5954771" y="3958936"/>
            <a:ext cx="1835213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66433" y="2339443"/>
            <a:ext cx="2906929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1880341" y="4794303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Donnez 3 méthodes qui permettent d’interagir avec les listes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4052719" y="5369253"/>
            <a:ext cx="40125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append(), insert(), </a:t>
            </a:r>
            <a:r>
              <a:rPr lang="fr-FR" dirty="0" err="1" smtClean="0"/>
              <a:t>remove</a:t>
            </a:r>
            <a:r>
              <a:rPr lang="fr-FR" dirty="0" smtClean="0"/>
              <a:t>(), pop(), sort()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627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 animBg="1"/>
      <p:bldP spid="19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b="1" i="1" dirty="0" smtClean="0">
            <a:ln w="18415" cmpd="sng">
              <a:solidFill>
                <a:schemeClr val="tx1"/>
              </a:solidFill>
              <a:prstDash val="solid"/>
            </a:ln>
            <a:solidFill>
              <a:schemeClr val="bg1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  <a:latin typeface="Calibri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439</Words>
  <Application>Microsoft Office PowerPoint</Application>
  <PresentationFormat>Grand écran</PresentationFormat>
  <Paragraphs>91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Ministère des Armées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CAMPHUIS Raphaëlle Apprenti</dc:creator>
  <cp:lastModifiedBy>CAMPHUIS Raphaëlle Apprenti</cp:lastModifiedBy>
  <cp:revision>39</cp:revision>
  <dcterms:created xsi:type="dcterms:W3CDTF">2025-01-10T07:21:59Z</dcterms:created>
  <dcterms:modified xsi:type="dcterms:W3CDTF">2025-01-23T10:41:51Z</dcterms:modified>
</cp:coreProperties>
</file>